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8" r:id="rId10"/>
    <p:sldId id="269" r:id="rId11"/>
    <p:sldId id="270" r:id="rId12"/>
    <p:sldId id="271" r:id="rId13"/>
    <p:sldId id="272" r:id="rId14"/>
    <p:sldId id="273" r:id="rId15"/>
    <p:sldId id="274" r:id="rId16"/>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2261" y="-2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sz="245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sz="1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1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87298" y="1736546"/>
            <a:ext cx="3777615" cy="1036319"/>
          </a:xfrm>
          <a:prstGeom prst="rect">
            <a:avLst/>
          </a:prstGeom>
        </p:spPr>
        <p:txBody>
          <a:bodyPr wrap="square" lIns="0" tIns="0" rIns="0" bIns="0">
            <a:spAutoFit/>
          </a:bodyPr>
          <a:lstStyle>
            <a:lvl1pPr>
              <a:defRPr sz="245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887298" y="3242587"/>
            <a:ext cx="6376670" cy="2276475"/>
          </a:xfrm>
          <a:prstGeom prst="rect">
            <a:avLst/>
          </a:prstGeom>
        </p:spPr>
        <p:txBody>
          <a:bodyPr wrap="square" lIns="0" tIns="0" rIns="0" bIns="0">
            <a:spAutoFit/>
          </a:bodyPr>
          <a:lstStyle>
            <a:lvl1pPr>
              <a:defRPr sz="12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11/24/2025</a:t>
            </a:fld>
            <a:endParaRPr lang="en-US"/>
          </a:p>
        </p:txBody>
      </p:sp>
      <p:sp>
        <p:nvSpPr>
          <p:cNvPr id="6" name="Holder 6"/>
          <p:cNvSpPr>
            <a:spLocks noGrp="1"/>
          </p:cNvSpPr>
          <p:nvPr>
            <p:ph type="sldNum" sz="quarter" idx="7"/>
          </p:nvPr>
        </p:nvSpPr>
        <p:spPr>
          <a:xfrm>
            <a:off x="3680447" y="9996575"/>
            <a:ext cx="199389" cy="232409"/>
          </a:xfrm>
          <a:prstGeom prst="rect">
            <a:avLst/>
          </a:prstGeom>
        </p:spPr>
        <p:txBody>
          <a:bodyPr wrap="square" lIns="0" tIns="0" rIns="0" bIns="0">
            <a:spAutoFit/>
          </a:bodyPr>
          <a:lstStyle>
            <a:lvl1pPr>
              <a:defRPr sz="1200" b="0" i="0">
                <a:solidFill>
                  <a:schemeClr val="tx1"/>
                </a:solidFill>
                <a:latin typeface="Lucida Sans Unicode"/>
                <a:cs typeface="Lucida Sans Unicode"/>
              </a:defRPr>
            </a:lvl1pPr>
          </a:lstStyle>
          <a:p>
            <a:pPr marL="55880">
              <a:lnSpc>
                <a:spcPct val="100000"/>
              </a:lnSpc>
              <a:spcBef>
                <a:spcPts val="17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15.xml"/><Relationship Id="rId3" Type="http://schemas.openxmlformats.org/officeDocument/2006/relationships/slide" Target="slide4.xml"/><Relationship Id="rId7" Type="http://schemas.openxmlformats.org/officeDocument/2006/relationships/slide" Target="slide12.xml"/><Relationship Id="rId12" Type="http://schemas.openxmlformats.org/officeDocument/2006/relationships/slide" Target="slide14.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11" Type="http://schemas.openxmlformats.org/officeDocument/2006/relationships/slide" Target="slide13.xml"/><Relationship Id="rId5" Type="http://schemas.openxmlformats.org/officeDocument/2006/relationships/slide" Target="slide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899998" y="4078643"/>
            <a:ext cx="5760085" cy="25400"/>
          </a:xfrm>
          <a:custGeom>
            <a:avLst/>
            <a:gdLst/>
            <a:ahLst/>
            <a:cxnLst/>
            <a:rect l="l" t="t" r="r" b="b"/>
            <a:pathLst>
              <a:path w="5760084" h="25400">
                <a:moveTo>
                  <a:pt x="5759996" y="0"/>
                </a:moveTo>
                <a:lnTo>
                  <a:pt x="0" y="0"/>
                </a:lnTo>
                <a:lnTo>
                  <a:pt x="0" y="25311"/>
                </a:lnTo>
                <a:lnTo>
                  <a:pt x="5759996" y="25311"/>
                </a:lnTo>
                <a:lnTo>
                  <a:pt x="5759996" y="0"/>
                </a:lnTo>
                <a:close/>
              </a:path>
            </a:pathLst>
          </a:custGeom>
          <a:solidFill>
            <a:srgbClr val="000000"/>
          </a:solidFill>
        </p:spPr>
        <p:txBody>
          <a:bodyPr wrap="square" lIns="0" tIns="0" rIns="0" bIns="0" rtlCol="0"/>
          <a:lstStyle/>
          <a:p>
            <a:endParaRPr/>
          </a:p>
        </p:txBody>
      </p:sp>
      <p:sp>
        <p:nvSpPr>
          <p:cNvPr id="5" name="object 5"/>
          <p:cNvSpPr txBox="1"/>
          <p:nvPr/>
        </p:nvSpPr>
        <p:spPr>
          <a:xfrm>
            <a:off x="1088237" y="3505047"/>
            <a:ext cx="5383530" cy="1410335"/>
          </a:xfrm>
          <a:prstGeom prst="rect">
            <a:avLst/>
          </a:prstGeom>
        </p:spPr>
        <p:txBody>
          <a:bodyPr vert="horz" wrap="square" lIns="0" tIns="15875" rIns="0" bIns="0" rtlCol="0">
            <a:spAutoFit/>
          </a:bodyPr>
          <a:lstStyle/>
          <a:p>
            <a:pPr algn="ctr">
              <a:lnSpc>
                <a:spcPct val="100000"/>
              </a:lnSpc>
              <a:spcBef>
                <a:spcPts val="125"/>
              </a:spcBef>
            </a:pPr>
            <a:r>
              <a:rPr sz="2450" spc="-350" dirty="0">
                <a:solidFill>
                  <a:srgbClr val="006738"/>
                </a:solidFill>
                <a:latin typeface="Arial Black"/>
                <a:cs typeface="Arial Black"/>
              </a:rPr>
              <a:t>PROJECT</a:t>
            </a:r>
            <a:r>
              <a:rPr sz="2450" spc="-165" dirty="0">
                <a:solidFill>
                  <a:srgbClr val="006738"/>
                </a:solidFill>
                <a:latin typeface="Arial Black"/>
                <a:cs typeface="Arial Black"/>
              </a:rPr>
              <a:t> </a:t>
            </a:r>
            <a:r>
              <a:rPr sz="2450" spc="-275" dirty="0">
                <a:solidFill>
                  <a:srgbClr val="006738"/>
                </a:solidFill>
                <a:latin typeface="Arial Black"/>
                <a:cs typeface="Arial Black"/>
              </a:rPr>
              <a:t>REPORT</a:t>
            </a:r>
            <a:endParaRPr sz="2450" dirty="0">
              <a:latin typeface="Arial Black"/>
              <a:cs typeface="Arial Black"/>
            </a:endParaRPr>
          </a:p>
          <a:p>
            <a:pPr marL="12065" marR="5080" algn="ctr">
              <a:lnSpc>
                <a:spcPts val="2490"/>
              </a:lnSpc>
              <a:spcBef>
                <a:spcPts val="2960"/>
              </a:spcBef>
            </a:pPr>
            <a:r>
              <a:rPr sz="2450" spc="-225" dirty="0">
                <a:latin typeface="Arial Black"/>
                <a:cs typeface="Arial Black"/>
              </a:rPr>
              <a:t>Basic</a:t>
            </a:r>
            <a:r>
              <a:rPr sz="2450" spc="-160" dirty="0">
                <a:latin typeface="Arial Black"/>
                <a:cs typeface="Arial Black"/>
              </a:rPr>
              <a:t> </a:t>
            </a:r>
            <a:r>
              <a:rPr sz="2450" spc="-60" dirty="0">
                <a:latin typeface="Arial Black"/>
                <a:cs typeface="Arial Black"/>
              </a:rPr>
              <a:t>Inventory</a:t>
            </a:r>
            <a:r>
              <a:rPr sz="2450" spc="-155" dirty="0">
                <a:latin typeface="Arial Black"/>
                <a:cs typeface="Arial Black"/>
              </a:rPr>
              <a:t> </a:t>
            </a:r>
            <a:r>
              <a:rPr sz="2450" spc="-90" dirty="0">
                <a:latin typeface="Arial Black"/>
                <a:cs typeface="Arial Black"/>
              </a:rPr>
              <a:t>and</a:t>
            </a:r>
            <a:r>
              <a:rPr sz="2450" spc="-155" dirty="0">
                <a:latin typeface="Arial Black"/>
                <a:cs typeface="Arial Black"/>
              </a:rPr>
              <a:t> </a:t>
            </a:r>
            <a:r>
              <a:rPr sz="2450" spc="-170" dirty="0">
                <a:latin typeface="Arial Black"/>
                <a:cs typeface="Arial Black"/>
              </a:rPr>
              <a:t>Price</a:t>
            </a:r>
            <a:r>
              <a:rPr sz="2450" spc="-155" dirty="0">
                <a:latin typeface="Arial Black"/>
                <a:cs typeface="Arial Black"/>
              </a:rPr>
              <a:t> </a:t>
            </a:r>
            <a:r>
              <a:rPr sz="2450" spc="-135" dirty="0">
                <a:latin typeface="Arial Black"/>
                <a:cs typeface="Arial Black"/>
              </a:rPr>
              <a:t>Checker </a:t>
            </a:r>
            <a:r>
              <a:rPr sz="2450" spc="-10" dirty="0">
                <a:latin typeface="Arial Black"/>
                <a:cs typeface="Arial Black"/>
              </a:rPr>
              <a:t>(BIPC)</a:t>
            </a:r>
            <a:endParaRPr sz="2450" dirty="0">
              <a:latin typeface="Arial Black"/>
              <a:cs typeface="Arial Black"/>
            </a:endParaRPr>
          </a:p>
        </p:txBody>
      </p:sp>
      <p:sp>
        <p:nvSpPr>
          <p:cNvPr id="6" name="object 6"/>
          <p:cNvSpPr/>
          <p:nvPr/>
        </p:nvSpPr>
        <p:spPr>
          <a:xfrm>
            <a:off x="899998" y="5069052"/>
            <a:ext cx="5760085" cy="19050"/>
          </a:xfrm>
          <a:custGeom>
            <a:avLst/>
            <a:gdLst/>
            <a:ahLst/>
            <a:cxnLst/>
            <a:rect l="l" t="t" r="r" b="b"/>
            <a:pathLst>
              <a:path w="5760084" h="19050">
                <a:moveTo>
                  <a:pt x="5759996" y="0"/>
                </a:moveTo>
                <a:lnTo>
                  <a:pt x="0" y="0"/>
                </a:lnTo>
                <a:lnTo>
                  <a:pt x="0" y="18973"/>
                </a:lnTo>
                <a:lnTo>
                  <a:pt x="5759996" y="18973"/>
                </a:lnTo>
                <a:lnTo>
                  <a:pt x="5759996" y="0"/>
                </a:lnTo>
                <a:close/>
              </a:path>
            </a:pathLst>
          </a:custGeom>
          <a:solidFill>
            <a:srgbClr val="000000"/>
          </a:solidFill>
        </p:spPr>
        <p:txBody>
          <a:bodyPr wrap="square" lIns="0" tIns="0" rIns="0" bIns="0" rtlCol="0"/>
          <a:lstStyle/>
          <a:p>
            <a:endParaRPr/>
          </a:p>
        </p:txBody>
      </p:sp>
      <p:sp>
        <p:nvSpPr>
          <p:cNvPr id="7" name="object 7"/>
          <p:cNvSpPr txBox="1"/>
          <p:nvPr/>
        </p:nvSpPr>
        <p:spPr>
          <a:xfrm>
            <a:off x="907376" y="6103957"/>
            <a:ext cx="5745480" cy="996950"/>
          </a:xfrm>
          <a:prstGeom prst="rect">
            <a:avLst/>
          </a:prstGeom>
        </p:spPr>
        <p:txBody>
          <a:bodyPr vert="horz" wrap="square" lIns="0" tIns="15240" rIns="0" bIns="0" rtlCol="0">
            <a:spAutoFit/>
          </a:bodyPr>
          <a:lstStyle/>
          <a:p>
            <a:pPr algn="ctr">
              <a:lnSpc>
                <a:spcPct val="100000"/>
              </a:lnSpc>
              <a:spcBef>
                <a:spcPts val="120"/>
              </a:spcBef>
            </a:pPr>
            <a:r>
              <a:rPr sz="1700" spc="-20" dirty="0">
                <a:latin typeface="Lucida Sans Unicode"/>
                <a:cs typeface="Lucida Sans Unicode"/>
              </a:rPr>
              <a:t>Submission</a:t>
            </a:r>
            <a:r>
              <a:rPr sz="1700" spc="-100" dirty="0">
                <a:latin typeface="Lucida Sans Unicode"/>
                <a:cs typeface="Lucida Sans Unicode"/>
              </a:rPr>
              <a:t> </a:t>
            </a:r>
            <a:r>
              <a:rPr sz="1700" spc="-10" dirty="0">
                <a:latin typeface="Lucida Sans Unicode"/>
                <a:cs typeface="Lucida Sans Unicode"/>
              </a:rPr>
              <a:t>for</a:t>
            </a:r>
            <a:r>
              <a:rPr sz="1700" spc="-95" dirty="0">
                <a:latin typeface="Lucida Sans Unicode"/>
                <a:cs typeface="Lucida Sans Unicode"/>
              </a:rPr>
              <a:t> </a:t>
            </a:r>
            <a:r>
              <a:rPr sz="1700" dirty="0">
                <a:latin typeface="Lucida Sans Unicode"/>
                <a:cs typeface="Lucida Sans Unicode"/>
              </a:rPr>
              <a:t>the</a:t>
            </a:r>
            <a:r>
              <a:rPr sz="1700" spc="-100" dirty="0">
                <a:latin typeface="Lucida Sans Unicode"/>
                <a:cs typeface="Lucida Sans Unicode"/>
              </a:rPr>
              <a:t> </a:t>
            </a:r>
            <a:r>
              <a:rPr sz="1700" spc="-10" dirty="0">
                <a:latin typeface="Lucida Sans Unicode"/>
                <a:cs typeface="Lucida Sans Unicode"/>
              </a:rPr>
              <a:t>Course</a:t>
            </a:r>
            <a:endParaRPr sz="1700">
              <a:latin typeface="Lucida Sans Unicode"/>
              <a:cs typeface="Lucida Sans Unicode"/>
            </a:endParaRPr>
          </a:p>
          <a:p>
            <a:pPr marL="12700" marR="5080" algn="ctr">
              <a:lnSpc>
                <a:spcPts val="2580"/>
              </a:lnSpc>
              <a:spcBef>
                <a:spcPts val="445"/>
              </a:spcBef>
            </a:pPr>
            <a:r>
              <a:rPr sz="2450" spc="-80" dirty="0">
                <a:latin typeface="Arial Black"/>
                <a:cs typeface="Arial Black"/>
              </a:rPr>
              <a:t>Introduction</a:t>
            </a:r>
            <a:r>
              <a:rPr sz="2450" spc="-140" dirty="0">
                <a:latin typeface="Arial Black"/>
                <a:cs typeface="Arial Black"/>
              </a:rPr>
              <a:t> </a:t>
            </a:r>
            <a:r>
              <a:rPr sz="2450" spc="-75" dirty="0">
                <a:latin typeface="Arial Black"/>
                <a:cs typeface="Arial Black"/>
              </a:rPr>
              <a:t>to</a:t>
            </a:r>
            <a:r>
              <a:rPr sz="2450" spc="-135" dirty="0">
                <a:latin typeface="Arial Black"/>
                <a:cs typeface="Arial Black"/>
              </a:rPr>
              <a:t> </a:t>
            </a:r>
            <a:r>
              <a:rPr sz="2450" spc="-110" dirty="0">
                <a:latin typeface="Arial Black"/>
                <a:cs typeface="Arial Black"/>
              </a:rPr>
              <a:t>Problem</a:t>
            </a:r>
            <a:r>
              <a:rPr sz="2450" spc="-135" dirty="0">
                <a:latin typeface="Arial Black"/>
                <a:cs typeface="Arial Black"/>
              </a:rPr>
              <a:t> </a:t>
            </a:r>
            <a:r>
              <a:rPr sz="2450" spc="-130" dirty="0">
                <a:latin typeface="Arial Black"/>
                <a:cs typeface="Arial Black"/>
              </a:rPr>
              <a:t>Solving</a:t>
            </a:r>
            <a:r>
              <a:rPr sz="2450" spc="-135" dirty="0">
                <a:latin typeface="Arial Black"/>
                <a:cs typeface="Arial Black"/>
              </a:rPr>
              <a:t> </a:t>
            </a:r>
            <a:r>
              <a:rPr sz="2450" spc="-25" dirty="0">
                <a:latin typeface="Arial Black"/>
                <a:cs typeface="Arial Black"/>
              </a:rPr>
              <a:t>and </a:t>
            </a:r>
            <a:r>
              <a:rPr sz="2450" spc="-10" dirty="0">
                <a:latin typeface="Arial Black"/>
                <a:cs typeface="Arial Black"/>
              </a:rPr>
              <a:t>Programming</a:t>
            </a:r>
            <a:endParaRPr sz="2450">
              <a:latin typeface="Arial Black"/>
              <a:cs typeface="Arial Black"/>
            </a:endParaRPr>
          </a:p>
        </p:txBody>
      </p:sp>
      <p:sp>
        <p:nvSpPr>
          <p:cNvPr id="8" name="object 8"/>
          <p:cNvSpPr txBox="1"/>
          <p:nvPr/>
        </p:nvSpPr>
        <p:spPr>
          <a:xfrm>
            <a:off x="2163585" y="8096332"/>
            <a:ext cx="3686530" cy="1337546"/>
          </a:xfrm>
          <a:prstGeom prst="rect">
            <a:avLst/>
          </a:prstGeom>
        </p:spPr>
        <p:txBody>
          <a:bodyPr vert="horz" wrap="square" lIns="0" tIns="49530" rIns="0" bIns="0" rtlCol="0">
            <a:spAutoFit/>
          </a:bodyPr>
          <a:lstStyle/>
          <a:p>
            <a:pPr algn="ctr">
              <a:lnSpc>
                <a:spcPct val="100000"/>
              </a:lnSpc>
              <a:spcBef>
                <a:spcPts val="390"/>
              </a:spcBef>
            </a:pPr>
            <a:r>
              <a:rPr spc="-50" dirty="0">
                <a:latin typeface="Arial Black"/>
                <a:cs typeface="Arial Black"/>
              </a:rPr>
              <a:t>Submitted</a:t>
            </a:r>
            <a:r>
              <a:rPr spc="-40" dirty="0">
                <a:latin typeface="Arial Black"/>
                <a:cs typeface="Arial Black"/>
              </a:rPr>
              <a:t> </a:t>
            </a:r>
            <a:r>
              <a:rPr spc="-25" dirty="0">
                <a:latin typeface="Arial Black"/>
                <a:cs typeface="Arial Black"/>
              </a:rPr>
              <a:t>By:</a:t>
            </a:r>
            <a:endParaRPr dirty="0">
              <a:latin typeface="Arial Black"/>
              <a:cs typeface="Arial Black"/>
            </a:endParaRPr>
          </a:p>
          <a:p>
            <a:pPr algn="ctr">
              <a:lnSpc>
                <a:spcPts val="1970"/>
              </a:lnSpc>
              <a:spcBef>
                <a:spcPts val="340"/>
              </a:spcBef>
            </a:pPr>
            <a:r>
              <a:rPr spc="-75" dirty="0">
                <a:latin typeface="Arial Black"/>
                <a:cs typeface="Arial Black"/>
              </a:rPr>
              <a:t>Ritika</a:t>
            </a:r>
            <a:r>
              <a:rPr spc="-110" dirty="0">
                <a:latin typeface="Arial Black"/>
                <a:cs typeface="Arial Black"/>
              </a:rPr>
              <a:t> </a:t>
            </a:r>
            <a:r>
              <a:rPr spc="-20" dirty="0">
                <a:latin typeface="Arial Black"/>
                <a:cs typeface="Arial Black"/>
              </a:rPr>
              <a:t>Gupta</a:t>
            </a:r>
            <a:endParaRPr lang="en-IN" spc="-20" dirty="0">
              <a:latin typeface="Arial Black"/>
              <a:cs typeface="Arial Black"/>
            </a:endParaRPr>
          </a:p>
          <a:p>
            <a:pPr algn="ctr">
              <a:lnSpc>
                <a:spcPts val="1970"/>
              </a:lnSpc>
              <a:spcBef>
                <a:spcPts val="340"/>
              </a:spcBef>
            </a:pPr>
            <a:endParaRPr dirty="0">
              <a:latin typeface="Arial Black"/>
              <a:cs typeface="Arial Black"/>
            </a:endParaRPr>
          </a:p>
          <a:p>
            <a:pPr algn="ctr">
              <a:lnSpc>
                <a:spcPts val="1610"/>
              </a:lnSpc>
            </a:pPr>
            <a:r>
              <a:rPr sz="1600" dirty="0">
                <a:latin typeface="Lucida Sans Unicode"/>
                <a:cs typeface="Lucida Sans Unicode"/>
              </a:rPr>
              <a:t>Registration</a:t>
            </a:r>
            <a:r>
              <a:rPr sz="1600" spc="-60" dirty="0">
                <a:latin typeface="Lucida Sans Unicode"/>
                <a:cs typeface="Lucida Sans Unicode"/>
              </a:rPr>
              <a:t> </a:t>
            </a:r>
            <a:r>
              <a:rPr sz="1600" dirty="0">
                <a:latin typeface="Lucida Sans Unicode"/>
                <a:cs typeface="Lucida Sans Unicode"/>
              </a:rPr>
              <a:t>Number:</a:t>
            </a:r>
            <a:r>
              <a:rPr sz="1600" spc="65" dirty="0">
                <a:latin typeface="Lucida Sans Unicode"/>
                <a:cs typeface="Lucida Sans Unicode"/>
              </a:rPr>
              <a:t> </a:t>
            </a:r>
            <a:r>
              <a:rPr sz="1600" spc="-20" dirty="0">
                <a:latin typeface="Lucida Sans Unicode"/>
                <a:cs typeface="Lucida Sans Unicode"/>
              </a:rPr>
              <a:t>25BCE10128</a:t>
            </a:r>
            <a:endParaRPr lang="en-IN" sz="1600" spc="-20" dirty="0">
              <a:latin typeface="Lucida Sans Unicode"/>
              <a:cs typeface="Lucida Sans Unicode"/>
            </a:endParaRPr>
          </a:p>
          <a:p>
            <a:pPr algn="ctr">
              <a:lnSpc>
                <a:spcPts val="1610"/>
              </a:lnSpc>
            </a:pPr>
            <a:r>
              <a:rPr lang="en-IN" sz="1600" spc="-20" dirty="0">
                <a:latin typeface="Lucida Sans Unicode"/>
                <a:cs typeface="Lucida Sans Unicode"/>
              </a:rPr>
              <a:t>Date of submission-24</a:t>
            </a:r>
            <a:r>
              <a:rPr lang="en-IN" sz="1600" spc="-20" baseline="30000" dirty="0">
                <a:latin typeface="Lucida Sans Unicode"/>
                <a:cs typeface="Lucida Sans Unicode"/>
              </a:rPr>
              <a:t>th</a:t>
            </a:r>
            <a:r>
              <a:rPr lang="en-IN" sz="1600" spc="-20" dirty="0">
                <a:latin typeface="Lucida Sans Unicode"/>
                <a:cs typeface="Lucida Sans Unicode"/>
              </a:rPr>
              <a:t> Nov</a:t>
            </a:r>
            <a:endParaRPr sz="1600" dirty="0">
              <a:latin typeface="Lucida Sans Unicode"/>
              <a:cs typeface="Lucida Sans Unicode"/>
            </a:endParaRPr>
          </a:p>
        </p:txBody>
      </p:sp>
      <p:sp>
        <p:nvSpPr>
          <p:cNvPr id="9" name="TextBox 8">
            <a:extLst>
              <a:ext uri="{FF2B5EF4-FFF2-40B4-BE49-F238E27FC236}">
                <a16:creationId xmlns:a16="http://schemas.microsoft.com/office/drawing/2014/main" id="{B804740A-96AB-0E92-3296-9C95E018F717}"/>
              </a:ext>
            </a:extLst>
          </p:cNvPr>
          <p:cNvSpPr txBox="1"/>
          <p:nvPr/>
        </p:nvSpPr>
        <p:spPr>
          <a:xfrm>
            <a:off x="3016250" y="9613900"/>
            <a:ext cx="1981200" cy="646331"/>
          </a:xfrm>
          <a:prstGeom prst="rect">
            <a:avLst/>
          </a:prstGeom>
          <a:noFill/>
        </p:spPr>
        <p:txBody>
          <a:bodyPr wrap="square" rtlCol="0">
            <a:spAutoFit/>
          </a:bodyPr>
          <a:lstStyle/>
          <a:p>
            <a:r>
              <a:rPr lang="en-IN" dirty="0"/>
              <a:t>  </a:t>
            </a:r>
            <a:r>
              <a:rPr lang="en-IN" b="1" dirty="0"/>
              <a:t>Submitted To:</a:t>
            </a:r>
          </a:p>
          <a:p>
            <a:r>
              <a:rPr lang="en-IN" b="1" dirty="0"/>
              <a:t>G Prabu Kanna</a:t>
            </a:r>
          </a:p>
        </p:txBody>
      </p:sp>
      <p:pic>
        <p:nvPicPr>
          <p:cNvPr id="1028" name="Picture 4" descr="ICSDP 2025 | 5th International Conference on Signal &amp; Data Processing ...">
            <a:extLst>
              <a:ext uri="{FF2B5EF4-FFF2-40B4-BE49-F238E27FC236}">
                <a16:creationId xmlns:a16="http://schemas.microsoft.com/office/drawing/2014/main" id="{E1D20B85-813E-BEF5-1CA3-64057E87F3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879" y="590663"/>
            <a:ext cx="4350741" cy="241667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22225" rIns="0" bIns="0" rtlCol="0">
            <a:spAutoFit/>
          </a:bodyPr>
          <a:lstStyle/>
          <a:p>
            <a:pPr marL="55880">
              <a:lnSpc>
                <a:spcPct val="100000"/>
              </a:lnSpc>
              <a:spcBef>
                <a:spcPts val="175"/>
              </a:spcBef>
            </a:pPr>
            <a:fld id="{81D60167-4931-47E6-BA6A-407CBD079E47}" type="slidenum">
              <a:rPr spc="-50" dirty="0"/>
              <a:t>2</a:t>
            </a:fld>
            <a:endParaRPr spc="-50" dirty="0"/>
          </a:p>
        </p:txBody>
      </p:sp>
      <p:sp>
        <p:nvSpPr>
          <p:cNvPr id="2" name="object 2"/>
          <p:cNvSpPr txBox="1">
            <a:spLocks noGrp="1"/>
          </p:cNvSpPr>
          <p:nvPr>
            <p:ph type="title"/>
          </p:nvPr>
        </p:nvSpPr>
        <p:spPr>
          <a:xfrm>
            <a:off x="887298" y="1736546"/>
            <a:ext cx="1450340" cy="403225"/>
          </a:xfrm>
          <a:prstGeom prst="rect">
            <a:avLst/>
          </a:prstGeom>
        </p:spPr>
        <p:txBody>
          <a:bodyPr vert="horz" wrap="square" lIns="0" tIns="15875" rIns="0" bIns="0" rtlCol="0">
            <a:spAutoFit/>
          </a:bodyPr>
          <a:lstStyle/>
          <a:p>
            <a:pPr marL="12700">
              <a:lnSpc>
                <a:spcPct val="100000"/>
              </a:lnSpc>
              <a:spcBef>
                <a:spcPts val="125"/>
              </a:spcBef>
            </a:pPr>
            <a:r>
              <a:rPr spc="-114" dirty="0"/>
              <a:t>Contents</a:t>
            </a:r>
          </a:p>
        </p:txBody>
      </p:sp>
      <p:sp>
        <p:nvSpPr>
          <p:cNvPr id="3" name="object 3"/>
          <p:cNvSpPr txBox="1"/>
          <p:nvPr/>
        </p:nvSpPr>
        <p:spPr>
          <a:xfrm>
            <a:off x="887298" y="2740898"/>
            <a:ext cx="2506980" cy="2566728"/>
          </a:xfrm>
          <a:prstGeom prst="rect">
            <a:avLst/>
          </a:prstGeom>
        </p:spPr>
        <p:txBody>
          <a:bodyPr vert="horz" wrap="square" lIns="0" tIns="12065" rIns="0" bIns="0" rtlCol="0">
            <a:spAutoFit/>
          </a:bodyPr>
          <a:lstStyle/>
          <a:p>
            <a:pPr marL="240029" indent="-227329">
              <a:lnSpc>
                <a:spcPct val="100000"/>
              </a:lnSpc>
              <a:spcBef>
                <a:spcPts val="95"/>
              </a:spcBef>
              <a:buAutoNum type="arabicPlain"/>
              <a:tabLst>
                <a:tab pos="240029" algn="l"/>
              </a:tabLst>
            </a:pPr>
            <a:r>
              <a:rPr sz="1200" spc="-10" dirty="0">
                <a:latin typeface="Arial Black"/>
                <a:cs typeface="Arial Black"/>
                <a:hlinkClick r:id="rId2" action="ppaction://hlinksldjump"/>
              </a:rPr>
              <a:t>Introduction</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65" dirty="0">
                <a:latin typeface="Arial Black"/>
                <a:cs typeface="Arial Black"/>
                <a:hlinkClick r:id="rId3" action="ppaction://hlinksldjump"/>
              </a:rPr>
              <a:t>Problem</a:t>
            </a:r>
            <a:r>
              <a:rPr sz="1200" spc="-55" dirty="0">
                <a:latin typeface="Arial Black"/>
                <a:cs typeface="Arial Black"/>
                <a:hlinkClick r:id="rId3" action="ppaction://hlinksldjump"/>
              </a:rPr>
              <a:t> </a:t>
            </a:r>
            <a:r>
              <a:rPr sz="1200" spc="-10" dirty="0">
                <a:latin typeface="Arial Black"/>
                <a:cs typeface="Arial Black"/>
                <a:hlinkClick r:id="rId3" action="ppaction://hlinksldjump"/>
              </a:rPr>
              <a:t>Statement</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70" dirty="0">
                <a:latin typeface="Arial Black"/>
                <a:cs typeface="Arial Black"/>
                <a:hlinkClick r:id="rId4" action="ppaction://hlinksldjump"/>
              </a:rPr>
              <a:t>Functional</a:t>
            </a:r>
            <a:r>
              <a:rPr sz="1200" spc="-15" dirty="0">
                <a:latin typeface="Arial Black"/>
                <a:cs typeface="Arial Black"/>
                <a:hlinkClick r:id="rId4" action="ppaction://hlinksldjump"/>
              </a:rPr>
              <a:t> </a:t>
            </a:r>
            <a:r>
              <a:rPr sz="1200" spc="-10" dirty="0">
                <a:latin typeface="Arial Black"/>
                <a:cs typeface="Arial Black"/>
                <a:hlinkClick r:id="rId4" action="ppaction://hlinksldjump"/>
              </a:rPr>
              <a:t>Requirements</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45" dirty="0">
                <a:latin typeface="Arial Black"/>
                <a:cs typeface="Arial Black"/>
                <a:hlinkClick r:id="rId5" action="ppaction://hlinksldjump"/>
              </a:rPr>
              <a:t>Non-functional</a:t>
            </a:r>
            <a:r>
              <a:rPr sz="1200" spc="-40" dirty="0">
                <a:latin typeface="Arial Black"/>
                <a:cs typeface="Arial Black"/>
                <a:hlinkClick r:id="rId5" action="ppaction://hlinksldjump"/>
              </a:rPr>
              <a:t> </a:t>
            </a:r>
            <a:r>
              <a:rPr sz="1200" spc="-65" dirty="0">
                <a:latin typeface="Arial Black"/>
                <a:cs typeface="Arial Black"/>
                <a:hlinkClick r:id="rId5" action="ppaction://hlinksldjump"/>
              </a:rPr>
              <a:t>Requirements</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105" dirty="0">
                <a:latin typeface="Arial Black"/>
                <a:cs typeface="Arial Black"/>
                <a:hlinkClick r:id="rId6" action="ppaction://hlinksldjump"/>
              </a:rPr>
              <a:t>System</a:t>
            </a:r>
            <a:r>
              <a:rPr sz="1200" spc="-45" dirty="0">
                <a:latin typeface="Arial Black"/>
                <a:cs typeface="Arial Black"/>
                <a:hlinkClick r:id="rId6" action="ppaction://hlinksldjump"/>
              </a:rPr>
              <a:t> </a:t>
            </a:r>
            <a:r>
              <a:rPr sz="1200" spc="-10" dirty="0">
                <a:latin typeface="Arial Black"/>
                <a:cs typeface="Arial Black"/>
                <a:hlinkClick r:id="rId6" action="ppaction://hlinksldjump"/>
              </a:rPr>
              <a:t>Architecture</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75" dirty="0">
                <a:latin typeface="Arial Black"/>
                <a:cs typeface="Arial Black"/>
                <a:hlinkClick r:id="rId7" action="ppaction://hlinksldjump"/>
              </a:rPr>
              <a:t>Design</a:t>
            </a:r>
            <a:r>
              <a:rPr sz="1200" spc="-65" dirty="0">
                <a:latin typeface="Arial Black"/>
                <a:cs typeface="Arial Black"/>
                <a:hlinkClick r:id="rId7" action="ppaction://hlinksldjump"/>
              </a:rPr>
              <a:t> </a:t>
            </a:r>
            <a:r>
              <a:rPr sz="1200" spc="-90" dirty="0">
                <a:latin typeface="Arial Black"/>
                <a:cs typeface="Arial Black"/>
                <a:hlinkClick r:id="rId7" action="ppaction://hlinksldjump"/>
              </a:rPr>
              <a:t>Decisions</a:t>
            </a:r>
            <a:r>
              <a:rPr sz="1200" spc="-60" dirty="0">
                <a:latin typeface="Arial Black"/>
                <a:cs typeface="Arial Black"/>
                <a:hlinkClick r:id="rId7" action="ppaction://hlinksldjump"/>
              </a:rPr>
              <a:t> </a:t>
            </a:r>
            <a:r>
              <a:rPr sz="1200" spc="-170" dirty="0">
                <a:latin typeface="Arial Black"/>
                <a:cs typeface="Arial Black"/>
                <a:hlinkClick r:id="rId7" action="ppaction://hlinksldjump"/>
              </a:rPr>
              <a:t>&amp;</a:t>
            </a:r>
            <a:r>
              <a:rPr sz="1200" spc="-60" dirty="0">
                <a:latin typeface="Arial Black"/>
                <a:cs typeface="Arial Black"/>
                <a:hlinkClick r:id="rId7" action="ppaction://hlinksldjump"/>
              </a:rPr>
              <a:t> </a:t>
            </a:r>
            <a:r>
              <a:rPr sz="1200" spc="-10" dirty="0">
                <a:latin typeface="Arial Black"/>
                <a:cs typeface="Arial Black"/>
                <a:hlinkClick r:id="rId7" action="ppaction://hlinksldjump"/>
              </a:rPr>
              <a:t>Rationale</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50" dirty="0">
                <a:latin typeface="Arial Black"/>
                <a:cs typeface="Arial Black"/>
                <a:hlinkClick r:id="rId8" action="ppaction://hlinksldjump"/>
              </a:rPr>
              <a:t>Implementation</a:t>
            </a:r>
            <a:r>
              <a:rPr sz="1200" spc="-15" dirty="0">
                <a:latin typeface="Arial Black"/>
                <a:cs typeface="Arial Black"/>
                <a:hlinkClick r:id="rId8" action="ppaction://hlinksldjump"/>
              </a:rPr>
              <a:t> </a:t>
            </a:r>
            <a:r>
              <a:rPr sz="1200" spc="-10" dirty="0">
                <a:latin typeface="Arial Black"/>
                <a:cs typeface="Arial Black"/>
                <a:hlinkClick r:id="rId8" action="ppaction://hlinksldjump"/>
              </a:rPr>
              <a:t>Details</a:t>
            </a:r>
            <a:endParaRPr sz="1200" dirty="0">
              <a:latin typeface="Arial Black"/>
              <a:cs typeface="Arial Black"/>
            </a:endParaRPr>
          </a:p>
          <a:p>
            <a:pPr marL="240029" indent="-227329">
              <a:lnSpc>
                <a:spcPct val="100000"/>
              </a:lnSpc>
              <a:spcBef>
                <a:spcPts val="1200"/>
              </a:spcBef>
              <a:buAutoNum type="arabicPlain"/>
              <a:tabLst>
                <a:tab pos="240029" algn="l"/>
              </a:tabLst>
            </a:pPr>
            <a:r>
              <a:rPr sz="1200" spc="-100" dirty="0">
                <a:latin typeface="Arial Black"/>
                <a:cs typeface="Arial Black"/>
                <a:hlinkClick r:id="rId9" action="ppaction://hlinksldjump"/>
              </a:rPr>
              <a:t>Screenshots</a:t>
            </a:r>
            <a:r>
              <a:rPr sz="1200" spc="-55" dirty="0">
                <a:latin typeface="Arial Black"/>
                <a:cs typeface="Arial Black"/>
                <a:hlinkClick r:id="rId9" action="ppaction://hlinksldjump"/>
              </a:rPr>
              <a:t> </a:t>
            </a:r>
            <a:r>
              <a:rPr sz="1200" spc="155" dirty="0">
                <a:latin typeface="Arial Black"/>
                <a:cs typeface="Arial Black"/>
                <a:hlinkClick r:id="rId9" action="ppaction://hlinksldjump"/>
              </a:rPr>
              <a:t>/</a:t>
            </a:r>
            <a:r>
              <a:rPr sz="1200" spc="-50" dirty="0">
                <a:latin typeface="Arial Black"/>
                <a:cs typeface="Arial Black"/>
                <a:hlinkClick r:id="rId9" action="ppaction://hlinksldjump"/>
              </a:rPr>
              <a:t> </a:t>
            </a:r>
            <a:r>
              <a:rPr sz="1200" spc="-10" dirty="0">
                <a:latin typeface="Arial Black"/>
                <a:cs typeface="Arial Black"/>
                <a:hlinkClick r:id="rId9" action="ppaction://hlinksldjump"/>
              </a:rPr>
              <a:t>Results</a:t>
            </a:r>
            <a:endParaRPr sz="1200" dirty="0">
              <a:latin typeface="Arial Black"/>
              <a:cs typeface="Arial Black"/>
            </a:endParaRPr>
          </a:p>
        </p:txBody>
      </p:sp>
      <p:sp>
        <p:nvSpPr>
          <p:cNvPr id="5" name="object 5"/>
          <p:cNvSpPr txBox="1"/>
          <p:nvPr/>
        </p:nvSpPr>
        <p:spPr>
          <a:xfrm>
            <a:off x="887298" y="5499100"/>
            <a:ext cx="2339975" cy="1548765"/>
          </a:xfrm>
          <a:prstGeom prst="rect">
            <a:avLst/>
          </a:prstGeom>
        </p:spPr>
        <p:txBody>
          <a:bodyPr vert="horz" wrap="square" lIns="0" tIns="12065" rIns="0" bIns="0" rtlCol="0">
            <a:spAutoFit/>
          </a:bodyPr>
          <a:lstStyle/>
          <a:p>
            <a:pPr marL="12700">
              <a:lnSpc>
                <a:spcPct val="100000"/>
              </a:lnSpc>
              <a:spcBef>
                <a:spcPts val="95"/>
              </a:spcBef>
              <a:tabLst>
                <a:tab pos="240029" algn="l"/>
              </a:tabLst>
            </a:pPr>
            <a:r>
              <a:rPr lang="en-IN" sz="1200" spc="-95" dirty="0">
                <a:latin typeface="Arial Black"/>
                <a:cs typeface="Arial Black"/>
                <a:hlinkClick r:id="rId10" action="ppaction://hlinksldjump"/>
              </a:rPr>
              <a:t>9   </a:t>
            </a:r>
            <a:r>
              <a:rPr sz="1200" spc="-95" dirty="0">
                <a:latin typeface="Arial Black"/>
                <a:cs typeface="Arial Black"/>
                <a:hlinkClick r:id="rId10" action="ppaction://hlinksldjump"/>
              </a:rPr>
              <a:t>Testing</a:t>
            </a:r>
            <a:r>
              <a:rPr sz="1200" spc="-50" dirty="0">
                <a:latin typeface="Arial Black"/>
                <a:cs typeface="Arial Black"/>
                <a:hlinkClick r:id="rId10" action="ppaction://hlinksldjump"/>
              </a:rPr>
              <a:t> </a:t>
            </a:r>
            <a:r>
              <a:rPr sz="1200" spc="-10" dirty="0">
                <a:latin typeface="Arial Black"/>
                <a:cs typeface="Arial Black"/>
                <a:hlinkClick r:id="rId10" action="ppaction://hlinksldjump"/>
              </a:rPr>
              <a:t>Approach</a:t>
            </a:r>
            <a:endParaRPr sz="1200" dirty="0">
              <a:latin typeface="Arial Black"/>
              <a:cs typeface="Arial Black"/>
            </a:endParaRPr>
          </a:p>
          <a:p>
            <a:pPr marL="240029" indent="-227329">
              <a:lnSpc>
                <a:spcPct val="100000"/>
              </a:lnSpc>
              <a:spcBef>
                <a:spcPts val="1200"/>
              </a:spcBef>
              <a:buAutoNum type="arabicPlain" startAt="10"/>
              <a:tabLst>
                <a:tab pos="240029" algn="l"/>
              </a:tabLst>
            </a:pPr>
            <a:r>
              <a:rPr sz="1200" spc="-80" dirty="0">
                <a:latin typeface="Arial Black"/>
                <a:cs typeface="Arial Black"/>
                <a:hlinkClick r:id="rId7" action="ppaction://hlinksldjump"/>
              </a:rPr>
              <a:t>Challenges</a:t>
            </a:r>
            <a:r>
              <a:rPr sz="1200" spc="-20" dirty="0">
                <a:latin typeface="Arial Black"/>
                <a:cs typeface="Arial Black"/>
                <a:hlinkClick r:id="rId7" action="ppaction://hlinksldjump"/>
              </a:rPr>
              <a:t> </a:t>
            </a:r>
            <a:r>
              <a:rPr sz="1200" spc="-10" dirty="0">
                <a:latin typeface="Arial Black"/>
                <a:cs typeface="Arial Black"/>
                <a:hlinkClick r:id="rId7" action="ppaction://hlinksldjump"/>
              </a:rPr>
              <a:t>Faced</a:t>
            </a:r>
            <a:endParaRPr sz="1200" dirty="0">
              <a:latin typeface="Arial Black"/>
              <a:cs typeface="Arial Black"/>
            </a:endParaRPr>
          </a:p>
          <a:p>
            <a:pPr marL="240029" indent="-227329">
              <a:lnSpc>
                <a:spcPct val="100000"/>
              </a:lnSpc>
              <a:spcBef>
                <a:spcPts val="1200"/>
              </a:spcBef>
              <a:buAutoNum type="arabicPlain" startAt="10"/>
              <a:tabLst>
                <a:tab pos="240029" algn="l"/>
              </a:tabLst>
            </a:pPr>
            <a:r>
              <a:rPr sz="1200" spc="-70" dirty="0">
                <a:latin typeface="Arial Black"/>
                <a:cs typeface="Arial Black"/>
                <a:hlinkClick r:id="rId11" action="ppaction://hlinksldjump"/>
              </a:rPr>
              <a:t>Learnings </a:t>
            </a:r>
            <a:r>
              <a:rPr sz="1200" spc="-170" dirty="0">
                <a:latin typeface="Arial Black"/>
                <a:cs typeface="Arial Black"/>
                <a:hlinkClick r:id="rId11" action="ppaction://hlinksldjump"/>
              </a:rPr>
              <a:t>&amp;</a:t>
            </a:r>
            <a:r>
              <a:rPr sz="1200" spc="-70" dirty="0">
                <a:latin typeface="Arial Black"/>
                <a:cs typeface="Arial Black"/>
                <a:hlinkClick r:id="rId11" action="ppaction://hlinksldjump"/>
              </a:rPr>
              <a:t> </a:t>
            </a:r>
            <a:r>
              <a:rPr sz="1200" spc="-135" dirty="0">
                <a:latin typeface="Arial Black"/>
                <a:cs typeface="Arial Black"/>
                <a:hlinkClick r:id="rId11" action="ppaction://hlinksldjump"/>
              </a:rPr>
              <a:t>Key</a:t>
            </a:r>
            <a:r>
              <a:rPr sz="1200" spc="-70" dirty="0">
                <a:latin typeface="Arial Black"/>
                <a:cs typeface="Arial Black"/>
                <a:hlinkClick r:id="rId11" action="ppaction://hlinksldjump"/>
              </a:rPr>
              <a:t> </a:t>
            </a:r>
            <a:r>
              <a:rPr sz="1200" spc="-100" dirty="0">
                <a:latin typeface="Arial Black"/>
                <a:cs typeface="Arial Black"/>
                <a:hlinkClick r:id="rId11" action="ppaction://hlinksldjump"/>
              </a:rPr>
              <a:t>Takeaways</a:t>
            </a:r>
            <a:endParaRPr sz="1200" dirty="0">
              <a:latin typeface="Arial Black"/>
              <a:cs typeface="Arial Black"/>
            </a:endParaRPr>
          </a:p>
          <a:p>
            <a:pPr marL="240029" indent="-227329">
              <a:lnSpc>
                <a:spcPct val="100000"/>
              </a:lnSpc>
              <a:spcBef>
                <a:spcPts val="1200"/>
              </a:spcBef>
              <a:buAutoNum type="arabicPlain" startAt="10"/>
              <a:tabLst>
                <a:tab pos="240029" algn="l"/>
              </a:tabLst>
            </a:pPr>
            <a:r>
              <a:rPr sz="1200" spc="-60" dirty="0">
                <a:latin typeface="Arial Black"/>
                <a:cs typeface="Arial Black"/>
                <a:hlinkClick r:id="rId12" action="ppaction://hlinksldjump"/>
              </a:rPr>
              <a:t>Future </a:t>
            </a:r>
            <a:r>
              <a:rPr sz="1200" spc="-10" dirty="0">
                <a:latin typeface="Arial Black"/>
                <a:cs typeface="Arial Black"/>
                <a:hlinkClick r:id="rId12" action="ppaction://hlinksldjump"/>
              </a:rPr>
              <a:t>Enhancements</a:t>
            </a:r>
            <a:endParaRPr sz="1200" dirty="0">
              <a:latin typeface="Arial Black"/>
              <a:cs typeface="Arial Black"/>
            </a:endParaRPr>
          </a:p>
          <a:p>
            <a:pPr marL="240029" indent="-227329">
              <a:lnSpc>
                <a:spcPct val="100000"/>
              </a:lnSpc>
              <a:spcBef>
                <a:spcPts val="1200"/>
              </a:spcBef>
              <a:buAutoNum type="arabicPlain" startAt="10"/>
              <a:tabLst>
                <a:tab pos="240029" algn="l"/>
              </a:tabLst>
            </a:pPr>
            <a:r>
              <a:rPr sz="1200" spc="-10" dirty="0">
                <a:latin typeface="Arial Black"/>
                <a:cs typeface="Arial Black"/>
                <a:hlinkClick r:id="rId13" action="ppaction://hlinksldjump"/>
              </a:rPr>
              <a:t>References</a:t>
            </a:r>
            <a:endParaRPr sz="1200" dirty="0">
              <a:latin typeface="Arial Black"/>
              <a:cs typeface="Arial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a:t>
            </a:r>
          </a:p>
        </p:txBody>
      </p:sp>
      <p:sp>
        <p:nvSpPr>
          <p:cNvPr id="2" name="object 2"/>
          <p:cNvSpPr txBox="1">
            <a:spLocks noGrp="1"/>
          </p:cNvSpPr>
          <p:nvPr>
            <p:ph type="title"/>
          </p:nvPr>
        </p:nvSpPr>
        <p:spPr>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50" dirty="0"/>
              <a:t>1</a:t>
            </a:r>
          </a:p>
          <a:p>
            <a:pPr marL="12700">
              <a:lnSpc>
                <a:spcPct val="100000"/>
              </a:lnSpc>
              <a:spcBef>
                <a:spcPts val="2045"/>
              </a:spcBef>
            </a:pPr>
            <a:r>
              <a:rPr spc="-65" dirty="0"/>
              <a:t>Introduction</a:t>
            </a:r>
          </a:p>
        </p:txBody>
      </p:sp>
      <p:sp>
        <p:nvSpPr>
          <p:cNvPr id="6" name="TextBox 5">
            <a:extLst>
              <a:ext uri="{FF2B5EF4-FFF2-40B4-BE49-F238E27FC236}">
                <a16:creationId xmlns:a16="http://schemas.microsoft.com/office/drawing/2014/main" id="{A4DEA253-610A-ED9E-B896-A6893BF7CE04}"/>
              </a:ext>
            </a:extLst>
          </p:cNvPr>
          <p:cNvSpPr txBox="1"/>
          <p:nvPr/>
        </p:nvSpPr>
        <p:spPr>
          <a:xfrm>
            <a:off x="870788" y="3136900"/>
            <a:ext cx="6565062" cy="1815882"/>
          </a:xfrm>
          <a:prstGeom prst="rect">
            <a:avLst/>
          </a:prstGeom>
          <a:noFill/>
        </p:spPr>
        <p:txBody>
          <a:bodyPr wrap="square">
            <a:spAutoFit/>
          </a:bodyPr>
          <a:lstStyle/>
          <a:p>
            <a:pPr marL="12700" marR="5080" algn="just">
              <a:lnSpc>
                <a:spcPct val="100000"/>
              </a:lnSpc>
              <a:spcBef>
                <a:spcPts val="95"/>
              </a:spcBef>
            </a:pPr>
            <a:r>
              <a:rPr lang="en-US" sz="1400" spc="-45" dirty="0">
                <a:latin typeface="Lucida Sans Unicode"/>
                <a:cs typeface="Lucida Sans Unicode"/>
              </a:rPr>
              <a:t>The</a:t>
            </a:r>
            <a:r>
              <a:rPr lang="en-US" sz="1400" spc="-50" dirty="0">
                <a:latin typeface="Lucida Sans Unicode"/>
                <a:cs typeface="Lucida Sans Unicode"/>
              </a:rPr>
              <a:t> </a:t>
            </a:r>
            <a:r>
              <a:rPr lang="en-US" sz="1400" dirty="0">
                <a:latin typeface="Lucida Sans Unicode"/>
                <a:cs typeface="Lucida Sans Unicode"/>
              </a:rPr>
              <a:t>Basic</a:t>
            </a:r>
            <a:r>
              <a:rPr lang="en-US" sz="1400" spc="-55" dirty="0">
                <a:latin typeface="Lucida Sans Unicode"/>
                <a:cs typeface="Lucida Sans Unicode"/>
              </a:rPr>
              <a:t> </a:t>
            </a:r>
            <a:r>
              <a:rPr lang="en-US" sz="1400" spc="-10" dirty="0">
                <a:latin typeface="Lucida Sans Unicode"/>
                <a:cs typeface="Lucida Sans Unicode"/>
              </a:rPr>
              <a:t>Inventory</a:t>
            </a:r>
            <a:r>
              <a:rPr lang="en-US" sz="1400" spc="-50" dirty="0">
                <a:latin typeface="Lucida Sans Unicode"/>
                <a:cs typeface="Lucida Sans Unicode"/>
              </a:rPr>
              <a:t> </a:t>
            </a:r>
            <a:r>
              <a:rPr lang="en-US" sz="1400" dirty="0">
                <a:latin typeface="Lucida Sans Unicode"/>
                <a:cs typeface="Lucida Sans Unicode"/>
              </a:rPr>
              <a:t>and</a:t>
            </a:r>
            <a:r>
              <a:rPr lang="en-US" sz="1400" spc="-50" dirty="0">
                <a:latin typeface="Lucida Sans Unicode"/>
                <a:cs typeface="Lucida Sans Unicode"/>
              </a:rPr>
              <a:t> </a:t>
            </a:r>
            <a:r>
              <a:rPr lang="en-US" sz="1400" dirty="0">
                <a:latin typeface="Lucida Sans Unicode"/>
                <a:cs typeface="Lucida Sans Unicode"/>
              </a:rPr>
              <a:t>Price</a:t>
            </a:r>
            <a:r>
              <a:rPr lang="en-US" sz="1400" spc="-50" dirty="0">
                <a:latin typeface="Lucida Sans Unicode"/>
                <a:cs typeface="Lucida Sans Unicode"/>
              </a:rPr>
              <a:t> </a:t>
            </a:r>
            <a:r>
              <a:rPr lang="en-US" sz="1400" spc="-30" dirty="0">
                <a:latin typeface="Lucida Sans Unicode"/>
                <a:cs typeface="Lucida Sans Unicode"/>
              </a:rPr>
              <a:t>Checker</a:t>
            </a:r>
            <a:r>
              <a:rPr lang="en-US" sz="1400" spc="-50" dirty="0">
                <a:latin typeface="Lucida Sans Unicode"/>
                <a:cs typeface="Lucida Sans Unicode"/>
              </a:rPr>
              <a:t> </a:t>
            </a:r>
            <a:r>
              <a:rPr lang="en-US" sz="1400" dirty="0">
                <a:latin typeface="Lucida Sans Unicode"/>
                <a:cs typeface="Lucida Sans Unicode"/>
              </a:rPr>
              <a:t>(BIPC)</a:t>
            </a:r>
            <a:r>
              <a:rPr lang="en-US" sz="1400" spc="-50" dirty="0">
                <a:latin typeface="Lucida Sans Unicode"/>
                <a:cs typeface="Lucida Sans Unicode"/>
              </a:rPr>
              <a:t> </a:t>
            </a:r>
            <a:r>
              <a:rPr lang="en-US" sz="1400" spc="-30" dirty="0">
                <a:latin typeface="Lucida Sans Unicode"/>
                <a:cs typeface="Lucida Sans Unicode"/>
              </a:rPr>
              <a:t>project</a:t>
            </a:r>
            <a:r>
              <a:rPr lang="en-US" sz="1400" spc="-50" dirty="0">
                <a:latin typeface="Lucida Sans Unicode"/>
                <a:cs typeface="Lucida Sans Unicode"/>
              </a:rPr>
              <a:t> </a:t>
            </a:r>
            <a:r>
              <a:rPr lang="en-US" sz="1400" dirty="0">
                <a:latin typeface="Lucida Sans Unicode"/>
                <a:cs typeface="Lucida Sans Unicode"/>
              </a:rPr>
              <a:t>was</a:t>
            </a:r>
            <a:r>
              <a:rPr lang="en-US" sz="1400" spc="-50" dirty="0">
                <a:latin typeface="Lucida Sans Unicode"/>
                <a:cs typeface="Lucida Sans Unicode"/>
              </a:rPr>
              <a:t> </a:t>
            </a:r>
            <a:r>
              <a:rPr lang="en-US" sz="1400" spc="-20" dirty="0">
                <a:latin typeface="Lucida Sans Unicode"/>
                <a:cs typeface="Lucida Sans Unicode"/>
              </a:rPr>
              <a:t>made </a:t>
            </a:r>
            <a:r>
              <a:rPr lang="en-US" sz="1400" spc="-10" dirty="0">
                <a:latin typeface="Lucida Sans Unicode"/>
                <a:cs typeface="Lucida Sans Unicode"/>
              </a:rPr>
              <a:t>as</a:t>
            </a:r>
            <a:r>
              <a:rPr lang="en-US" sz="1400" spc="-50" dirty="0">
                <a:latin typeface="Lucida Sans Unicode"/>
                <a:cs typeface="Lucida Sans Unicode"/>
              </a:rPr>
              <a:t> </a:t>
            </a:r>
            <a:r>
              <a:rPr lang="en-US" sz="1400" dirty="0">
                <a:latin typeface="Lucida Sans Unicode"/>
                <a:cs typeface="Lucida Sans Unicode"/>
              </a:rPr>
              <a:t>a</a:t>
            </a:r>
            <a:r>
              <a:rPr lang="en-US" sz="1400" spc="-50" dirty="0">
                <a:latin typeface="Lucida Sans Unicode"/>
                <a:cs typeface="Lucida Sans Unicode"/>
              </a:rPr>
              <a:t> </a:t>
            </a:r>
            <a:r>
              <a:rPr lang="en-US" sz="1400" spc="-20" dirty="0">
                <a:latin typeface="Lucida Sans Unicode"/>
                <a:cs typeface="Lucida Sans Unicode"/>
              </a:rPr>
              <a:t>show of</a:t>
            </a:r>
            <a:r>
              <a:rPr lang="en-US" sz="1400" spc="-30" dirty="0">
                <a:latin typeface="Lucida Sans Unicode"/>
                <a:cs typeface="Lucida Sans Unicode"/>
              </a:rPr>
              <a:t> </a:t>
            </a:r>
            <a:r>
              <a:rPr lang="en-US" sz="1400" spc="-20" dirty="0">
                <a:latin typeface="Lucida Sans Unicode"/>
                <a:cs typeface="Lucida Sans Unicode"/>
              </a:rPr>
              <a:t>core</a:t>
            </a:r>
            <a:r>
              <a:rPr lang="en-US" sz="1400" spc="-30" dirty="0">
                <a:latin typeface="Lucida Sans Unicode"/>
                <a:cs typeface="Lucida Sans Unicode"/>
              </a:rPr>
              <a:t> </a:t>
            </a:r>
            <a:r>
              <a:rPr lang="en-US" sz="1400" spc="-25" dirty="0">
                <a:latin typeface="Lucida Sans Unicode"/>
                <a:cs typeface="Lucida Sans Unicode"/>
              </a:rPr>
              <a:t>programming </a:t>
            </a:r>
            <a:r>
              <a:rPr lang="en-US" sz="1400" spc="-30" dirty="0">
                <a:latin typeface="Lucida Sans Unicode"/>
                <a:cs typeface="Lucida Sans Unicode"/>
              </a:rPr>
              <a:t>concepts,</a:t>
            </a:r>
            <a:r>
              <a:rPr lang="en-US" sz="1400" spc="-25" dirty="0">
                <a:latin typeface="Lucida Sans Unicode"/>
                <a:cs typeface="Lucida Sans Unicode"/>
              </a:rPr>
              <a:t> </a:t>
            </a:r>
            <a:r>
              <a:rPr lang="en-US" sz="1400" spc="-35" dirty="0">
                <a:latin typeface="Lucida Sans Unicode"/>
                <a:cs typeface="Lucida Sans Unicode"/>
              </a:rPr>
              <a:t>including</a:t>
            </a:r>
            <a:r>
              <a:rPr lang="en-US" sz="1400" spc="-20" dirty="0">
                <a:latin typeface="Lucida Sans Unicode"/>
                <a:cs typeface="Lucida Sans Unicode"/>
              </a:rPr>
              <a:t> </a:t>
            </a:r>
            <a:r>
              <a:rPr lang="en-US" sz="1400" spc="-45" dirty="0">
                <a:latin typeface="Lucida Sans Unicode"/>
                <a:cs typeface="Lucida Sans Unicode"/>
              </a:rPr>
              <a:t>Object-</a:t>
            </a:r>
            <a:r>
              <a:rPr lang="en-US" sz="1400" spc="-40" dirty="0">
                <a:latin typeface="Lucida Sans Unicode"/>
                <a:cs typeface="Lucida Sans Unicode"/>
              </a:rPr>
              <a:t>Oriented</a:t>
            </a:r>
            <a:r>
              <a:rPr lang="en-US" sz="1400" spc="-30" dirty="0">
                <a:latin typeface="Lucida Sans Unicode"/>
                <a:cs typeface="Lucida Sans Unicode"/>
              </a:rPr>
              <a:t> </a:t>
            </a:r>
            <a:r>
              <a:rPr lang="en-US" sz="1400" spc="-10" dirty="0">
                <a:latin typeface="Lucida Sans Unicode"/>
                <a:cs typeface="Lucida Sans Unicode"/>
              </a:rPr>
              <a:t>Programming (OOP),</a:t>
            </a:r>
            <a:r>
              <a:rPr lang="en-US" sz="1400" spc="-55" dirty="0">
                <a:latin typeface="Lucida Sans Unicode"/>
                <a:cs typeface="Lucida Sans Unicode"/>
              </a:rPr>
              <a:t> </a:t>
            </a:r>
            <a:r>
              <a:rPr lang="en-US" sz="1400" spc="-20" dirty="0">
                <a:latin typeface="Lucida Sans Unicode"/>
                <a:cs typeface="Lucida Sans Unicode"/>
              </a:rPr>
              <a:t>file</a:t>
            </a:r>
            <a:r>
              <a:rPr lang="en-US" sz="1400" spc="-50" dirty="0">
                <a:latin typeface="Lucida Sans Unicode"/>
                <a:cs typeface="Lucida Sans Unicode"/>
              </a:rPr>
              <a:t> </a:t>
            </a:r>
            <a:r>
              <a:rPr lang="en-US" sz="1400" spc="-25" dirty="0">
                <a:latin typeface="Lucida Sans Unicode"/>
                <a:cs typeface="Lucida Sans Unicode"/>
              </a:rPr>
              <a:t>persistence,</a:t>
            </a:r>
            <a:r>
              <a:rPr lang="en-US" sz="1400" spc="-40" dirty="0">
                <a:latin typeface="Lucida Sans Unicode"/>
                <a:cs typeface="Lucida Sans Unicode"/>
              </a:rPr>
              <a:t> </a:t>
            </a:r>
            <a:r>
              <a:rPr lang="en-US" sz="1400" dirty="0">
                <a:latin typeface="Lucida Sans Unicode"/>
                <a:cs typeface="Lucida Sans Unicode"/>
              </a:rPr>
              <a:t>and</a:t>
            </a:r>
            <a:r>
              <a:rPr lang="en-US" sz="1400" spc="-55" dirty="0">
                <a:latin typeface="Lucida Sans Unicode"/>
                <a:cs typeface="Lucida Sans Unicode"/>
              </a:rPr>
              <a:t> </a:t>
            </a:r>
            <a:r>
              <a:rPr lang="en-US" sz="1400" spc="-20" dirty="0">
                <a:latin typeface="Lucida Sans Unicode"/>
                <a:cs typeface="Lucida Sans Unicode"/>
              </a:rPr>
              <a:t>robust</a:t>
            </a:r>
            <a:r>
              <a:rPr lang="en-US" sz="1400" spc="-50" dirty="0">
                <a:latin typeface="Lucida Sans Unicode"/>
                <a:cs typeface="Lucida Sans Unicode"/>
              </a:rPr>
              <a:t> </a:t>
            </a:r>
            <a:r>
              <a:rPr lang="en-US" sz="1400" dirty="0">
                <a:latin typeface="Lucida Sans Unicode"/>
                <a:cs typeface="Lucida Sans Unicode"/>
              </a:rPr>
              <a:t>data</a:t>
            </a:r>
            <a:r>
              <a:rPr lang="en-US" sz="1400" spc="-50" dirty="0">
                <a:latin typeface="Lucida Sans Unicode"/>
                <a:cs typeface="Lucida Sans Unicode"/>
              </a:rPr>
              <a:t> </a:t>
            </a:r>
            <a:r>
              <a:rPr lang="en-US" sz="1400" dirty="0">
                <a:latin typeface="Lucida Sans Unicode"/>
                <a:cs typeface="Lucida Sans Unicode"/>
              </a:rPr>
              <a:t>handling.</a:t>
            </a:r>
            <a:r>
              <a:rPr lang="en-US" sz="1400" spc="135" dirty="0">
                <a:latin typeface="Lucida Sans Unicode"/>
                <a:cs typeface="Lucida Sans Unicode"/>
              </a:rPr>
              <a:t> </a:t>
            </a:r>
            <a:r>
              <a:rPr lang="en-US" sz="1400" spc="-20" dirty="0">
                <a:latin typeface="Lucida Sans Unicode"/>
                <a:cs typeface="Lucida Sans Unicode"/>
              </a:rPr>
              <a:t>The</a:t>
            </a:r>
            <a:r>
              <a:rPr lang="en-US" sz="1400" spc="-55" dirty="0">
                <a:latin typeface="Lucida Sans Unicode"/>
                <a:cs typeface="Lucida Sans Unicode"/>
              </a:rPr>
              <a:t> </a:t>
            </a:r>
            <a:r>
              <a:rPr lang="en-US" sz="1400" spc="-10" dirty="0">
                <a:latin typeface="Lucida Sans Unicode"/>
                <a:cs typeface="Lucida Sans Unicode"/>
              </a:rPr>
              <a:t>primary</a:t>
            </a:r>
            <a:r>
              <a:rPr lang="en-US" sz="1400" spc="-50" dirty="0">
                <a:latin typeface="Lucida Sans Unicode"/>
                <a:cs typeface="Lucida Sans Unicode"/>
              </a:rPr>
              <a:t> </a:t>
            </a:r>
            <a:r>
              <a:rPr lang="en-US" sz="1400" spc="-10" dirty="0">
                <a:latin typeface="Lucida Sans Unicode"/>
                <a:cs typeface="Lucida Sans Unicode"/>
              </a:rPr>
              <a:t>goal</a:t>
            </a:r>
            <a:r>
              <a:rPr lang="en-US" sz="1400" spc="-50" dirty="0">
                <a:latin typeface="Lucida Sans Unicode"/>
                <a:cs typeface="Lucida Sans Unicode"/>
              </a:rPr>
              <a:t> </a:t>
            </a:r>
            <a:r>
              <a:rPr lang="en-US" sz="1400" dirty="0">
                <a:latin typeface="Lucida Sans Unicode"/>
                <a:cs typeface="Lucida Sans Unicode"/>
              </a:rPr>
              <a:t>of</a:t>
            </a:r>
            <a:r>
              <a:rPr lang="en-US" sz="1400" spc="-50" dirty="0">
                <a:latin typeface="Lucida Sans Unicode"/>
                <a:cs typeface="Lucida Sans Unicode"/>
              </a:rPr>
              <a:t> </a:t>
            </a:r>
            <a:r>
              <a:rPr lang="en-US" sz="1400" dirty="0">
                <a:latin typeface="Lucida Sans Unicode"/>
                <a:cs typeface="Lucida Sans Unicode"/>
              </a:rPr>
              <a:t>BIPC</a:t>
            </a:r>
            <a:r>
              <a:rPr lang="en-US" sz="1400" spc="-55" dirty="0">
                <a:latin typeface="Lucida Sans Unicode"/>
                <a:cs typeface="Lucida Sans Unicode"/>
              </a:rPr>
              <a:t> </a:t>
            </a:r>
            <a:r>
              <a:rPr lang="en-US" sz="1400" spc="-20" dirty="0">
                <a:latin typeface="Lucida Sans Unicode"/>
                <a:cs typeface="Lucida Sans Unicode"/>
              </a:rPr>
              <a:t>is</a:t>
            </a:r>
            <a:r>
              <a:rPr lang="en-US" sz="1400" spc="-50" dirty="0">
                <a:latin typeface="Lucida Sans Unicode"/>
                <a:cs typeface="Lucida Sans Unicode"/>
              </a:rPr>
              <a:t> </a:t>
            </a:r>
            <a:r>
              <a:rPr lang="en-US" sz="1400" spc="-25" dirty="0">
                <a:latin typeface="Lucida Sans Unicode"/>
                <a:cs typeface="Lucida Sans Unicode"/>
              </a:rPr>
              <a:t>to </a:t>
            </a:r>
            <a:r>
              <a:rPr lang="en-US" sz="1400" spc="-30" dirty="0">
                <a:latin typeface="Lucida Sans Unicode"/>
                <a:cs typeface="Lucida Sans Unicode"/>
              </a:rPr>
              <a:t>provide</a:t>
            </a:r>
            <a:r>
              <a:rPr lang="en-US" sz="1400" spc="-45" dirty="0">
                <a:latin typeface="Lucida Sans Unicode"/>
                <a:cs typeface="Lucida Sans Unicode"/>
              </a:rPr>
              <a:t> </a:t>
            </a:r>
            <a:r>
              <a:rPr lang="en-US" sz="1400" spc="-30" dirty="0">
                <a:latin typeface="Lucida Sans Unicode"/>
                <a:cs typeface="Lucida Sans Unicode"/>
              </a:rPr>
              <a:t>small</a:t>
            </a:r>
            <a:r>
              <a:rPr lang="en-US" sz="1400" spc="-40" dirty="0">
                <a:latin typeface="Lucida Sans Unicode"/>
                <a:cs typeface="Lucida Sans Unicode"/>
              </a:rPr>
              <a:t> </a:t>
            </a:r>
            <a:r>
              <a:rPr lang="en-US" sz="1400" spc="-30" dirty="0">
                <a:latin typeface="Lucida Sans Unicode"/>
                <a:cs typeface="Lucida Sans Unicode"/>
              </a:rPr>
              <a:t>businesses</a:t>
            </a:r>
            <a:r>
              <a:rPr lang="en-US" sz="1400" spc="-40" dirty="0">
                <a:latin typeface="Lucida Sans Unicode"/>
                <a:cs typeface="Lucida Sans Unicode"/>
              </a:rPr>
              <a:t> </a:t>
            </a:r>
            <a:r>
              <a:rPr lang="en-US" sz="1400" spc="-10" dirty="0">
                <a:latin typeface="Lucida Sans Unicode"/>
                <a:cs typeface="Lucida Sans Unicode"/>
              </a:rPr>
              <a:t>or</a:t>
            </a:r>
            <a:r>
              <a:rPr lang="en-US" sz="1400" spc="-40" dirty="0">
                <a:latin typeface="Lucida Sans Unicode"/>
                <a:cs typeface="Lucida Sans Unicode"/>
              </a:rPr>
              <a:t> </a:t>
            </a:r>
            <a:r>
              <a:rPr lang="en-US" sz="1400" spc="-20" dirty="0">
                <a:latin typeface="Lucida Sans Unicode"/>
                <a:cs typeface="Lucida Sans Unicode"/>
              </a:rPr>
              <a:t>departmental</a:t>
            </a:r>
            <a:r>
              <a:rPr lang="en-US" sz="1400" spc="-40" dirty="0">
                <a:latin typeface="Lucida Sans Unicode"/>
                <a:cs typeface="Lucida Sans Unicode"/>
              </a:rPr>
              <a:t> </a:t>
            </a:r>
            <a:r>
              <a:rPr lang="en-US" sz="1400" spc="-30" dirty="0">
                <a:latin typeface="Lucida Sans Unicode"/>
                <a:cs typeface="Lucida Sans Unicode"/>
              </a:rPr>
              <a:t>stores</a:t>
            </a:r>
            <a:r>
              <a:rPr lang="en-US" sz="1400" spc="-40" dirty="0">
                <a:latin typeface="Lucida Sans Unicode"/>
                <a:cs typeface="Lucida Sans Unicode"/>
              </a:rPr>
              <a:t> </a:t>
            </a:r>
            <a:r>
              <a:rPr lang="en-US" sz="1400" spc="-25" dirty="0">
                <a:latin typeface="Lucida Sans Unicode"/>
                <a:cs typeface="Lucida Sans Unicode"/>
              </a:rPr>
              <a:t>with</a:t>
            </a:r>
            <a:r>
              <a:rPr lang="en-US" sz="1400" spc="-40" dirty="0">
                <a:latin typeface="Lucida Sans Unicode"/>
                <a:cs typeface="Lucida Sans Unicode"/>
              </a:rPr>
              <a:t> </a:t>
            </a:r>
            <a:r>
              <a:rPr lang="en-US" sz="1400" dirty="0">
                <a:latin typeface="Lucida Sans Unicode"/>
                <a:cs typeface="Lucida Sans Unicode"/>
              </a:rPr>
              <a:t>a</a:t>
            </a:r>
            <a:r>
              <a:rPr lang="en-US" sz="1400" spc="-40" dirty="0">
                <a:latin typeface="Lucida Sans Unicode"/>
                <a:cs typeface="Lucida Sans Unicode"/>
              </a:rPr>
              <a:t> </a:t>
            </a:r>
            <a:r>
              <a:rPr lang="en-US" sz="1400" spc="-35" dirty="0">
                <a:latin typeface="Lucida Sans Unicode"/>
                <a:cs typeface="Lucida Sans Unicode"/>
              </a:rPr>
              <a:t>simple</a:t>
            </a:r>
            <a:r>
              <a:rPr lang="en-US" sz="1400" spc="-60" dirty="0">
                <a:latin typeface="Lucida Sans Unicode"/>
                <a:cs typeface="Lucida Sans Unicode"/>
              </a:rPr>
              <a:t> </a:t>
            </a:r>
            <a:r>
              <a:rPr lang="en-US" sz="1400" spc="-25" dirty="0">
                <a:latin typeface="Lucida Sans Unicode"/>
                <a:cs typeface="Lucida Sans Unicode"/>
              </a:rPr>
              <a:t>(CLI) </a:t>
            </a:r>
            <a:r>
              <a:rPr lang="en-US" sz="1400" spc="-30" dirty="0">
                <a:latin typeface="Lucida Sans Unicode"/>
                <a:cs typeface="Lucida Sans Unicode"/>
              </a:rPr>
              <a:t>application for </a:t>
            </a:r>
            <a:r>
              <a:rPr lang="en-US" sz="1400" spc="-25" dirty="0">
                <a:latin typeface="Lucida Sans Unicode"/>
                <a:cs typeface="Lucida Sans Unicode"/>
              </a:rPr>
              <a:t>maintaining</a:t>
            </a:r>
            <a:r>
              <a:rPr lang="en-US" sz="1400" spc="-30" dirty="0">
                <a:latin typeface="Lucida Sans Unicode"/>
                <a:cs typeface="Lucida Sans Unicode"/>
              </a:rPr>
              <a:t> </a:t>
            </a:r>
            <a:r>
              <a:rPr lang="en-US" sz="1400" dirty="0">
                <a:latin typeface="Lucida Sans Unicode"/>
                <a:cs typeface="Lucida Sans Unicode"/>
              </a:rPr>
              <a:t>a</a:t>
            </a:r>
            <a:r>
              <a:rPr lang="en-US" sz="1400" spc="-30" dirty="0">
                <a:latin typeface="Lucida Sans Unicode"/>
                <a:cs typeface="Lucida Sans Unicode"/>
              </a:rPr>
              <a:t> </a:t>
            </a:r>
            <a:r>
              <a:rPr lang="en-US" sz="1400" spc="-35" dirty="0">
                <a:latin typeface="Lucida Sans Unicode"/>
                <a:cs typeface="Lucida Sans Unicode"/>
              </a:rPr>
              <a:t>centralized,</a:t>
            </a:r>
            <a:r>
              <a:rPr lang="en-US" sz="1400" spc="-30" dirty="0">
                <a:latin typeface="Lucida Sans Unicode"/>
                <a:cs typeface="Lucida Sans Unicode"/>
              </a:rPr>
              <a:t> </a:t>
            </a:r>
            <a:r>
              <a:rPr lang="en-US" sz="1400" spc="-90" dirty="0">
                <a:latin typeface="Lucida Sans Unicode"/>
                <a:cs typeface="Lucida Sans Unicode"/>
              </a:rPr>
              <a:t>up-</a:t>
            </a:r>
            <a:r>
              <a:rPr lang="en-US" sz="1400" spc="-75" dirty="0">
                <a:latin typeface="Lucida Sans Unicode"/>
                <a:cs typeface="Lucida Sans Unicode"/>
              </a:rPr>
              <a:t>to-</a:t>
            </a:r>
            <a:r>
              <a:rPr lang="en-US" sz="1400" spc="-90" dirty="0">
                <a:latin typeface="Lucida Sans Unicode"/>
                <a:cs typeface="Lucida Sans Unicode"/>
              </a:rPr>
              <a:t>date</a:t>
            </a:r>
            <a:r>
              <a:rPr lang="en-US" sz="1400" spc="-5" dirty="0">
                <a:latin typeface="Lucida Sans Unicode"/>
                <a:cs typeface="Lucida Sans Unicode"/>
              </a:rPr>
              <a:t> </a:t>
            </a:r>
            <a:r>
              <a:rPr lang="en-US" sz="1400" spc="-25" dirty="0">
                <a:latin typeface="Lucida Sans Unicode"/>
                <a:cs typeface="Lucida Sans Unicode"/>
              </a:rPr>
              <a:t>catalog</a:t>
            </a:r>
            <a:r>
              <a:rPr lang="en-US" sz="1400" spc="-30" dirty="0">
                <a:latin typeface="Lucida Sans Unicode"/>
                <a:cs typeface="Lucida Sans Unicode"/>
              </a:rPr>
              <a:t> </a:t>
            </a:r>
            <a:r>
              <a:rPr lang="en-US" sz="1400" spc="-45" dirty="0">
                <a:latin typeface="Lucida Sans Unicode"/>
                <a:cs typeface="Lucida Sans Unicode"/>
              </a:rPr>
              <a:t>of</a:t>
            </a:r>
            <a:r>
              <a:rPr lang="en-US" sz="1400" spc="-30" dirty="0">
                <a:latin typeface="Lucida Sans Unicode"/>
                <a:cs typeface="Lucida Sans Unicode"/>
              </a:rPr>
              <a:t> </a:t>
            </a:r>
            <a:r>
              <a:rPr lang="en-US" sz="1400" spc="-35" dirty="0">
                <a:latin typeface="Lucida Sans Unicode"/>
                <a:cs typeface="Lucida Sans Unicode"/>
              </a:rPr>
              <a:t>prod</a:t>
            </a:r>
            <a:r>
              <a:rPr lang="en-US" sz="1400" dirty="0">
                <a:latin typeface="Lucida Sans Unicode"/>
                <a:cs typeface="Lucida Sans Unicode"/>
              </a:rPr>
              <a:t>ucts,</a:t>
            </a:r>
            <a:r>
              <a:rPr lang="en-US" sz="1400" spc="-5" dirty="0">
                <a:latin typeface="Lucida Sans Unicode"/>
                <a:cs typeface="Lucida Sans Unicode"/>
              </a:rPr>
              <a:t> </a:t>
            </a:r>
            <a:r>
              <a:rPr lang="en-US" sz="1400" dirty="0">
                <a:latin typeface="Lucida Sans Unicode"/>
                <a:cs typeface="Lucida Sans Unicode"/>
              </a:rPr>
              <a:t>their</a:t>
            </a:r>
            <a:r>
              <a:rPr lang="en-US" sz="1400" spc="-25" dirty="0">
                <a:latin typeface="Lucida Sans Unicode"/>
                <a:cs typeface="Lucida Sans Unicode"/>
              </a:rPr>
              <a:t> </a:t>
            </a:r>
            <a:r>
              <a:rPr lang="en-US" sz="1400" spc="-10" dirty="0">
                <a:latin typeface="Lucida Sans Unicode"/>
                <a:cs typeface="Lucida Sans Unicode"/>
              </a:rPr>
              <a:t>stock</a:t>
            </a:r>
            <a:r>
              <a:rPr lang="en-US" sz="1400" spc="-30" dirty="0">
                <a:latin typeface="Lucida Sans Unicode"/>
                <a:cs typeface="Lucida Sans Unicode"/>
              </a:rPr>
              <a:t> </a:t>
            </a:r>
            <a:r>
              <a:rPr lang="en-US" sz="1400" spc="-10" dirty="0">
                <a:latin typeface="Lucida Sans Unicode"/>
                <a:cs typeface="Lucida Sans Unicode"/>
              </a:rPr>
              <a:t>levels,</a:t>
            </a:r>
            <a:r>
              <a:rPr lang="en-US" sz="1400" dirty="0">
                <a:latin typeface="Lucida Sans Unicode"/>
                <a:cs typeface="Lucida Sans Unicode"/>
              </a:rPr>
              <a:t> and</a:t>
            </a:r>
            <a:r>
              <a:rPr lang="en-US" sz="1400" spc="-30" dirty="0">
                <a:latin typeface="Lucida Sans Unicode"/>
                <a:cs typeface="Lucida Sans Unicode"/>
              </a:rPr>
              <a:t> </a:t>
            </a:r>
            <a:r>
              <a:rPr lang="en-US" sz="1400" dirty="0">
                <a:latin typeface="Lucida Sans Unicode"/>
                <a:cs typeface="Lucida Sans Unicode"/>
              </a:rPr>
              <a:t>their</a:t>
            </a:r>
            <a:r>
              <a:rPr lang="en-US" sz="1400" spc="-30" dirty="0">
                <a:latin typeface="Lucida Sans Unicode"/>
                <a:cs typeface="Lucida Sans Unicode"/>
              </a:rPr>
              <a:t> </a:t>
            </a:r>
            <a:r>
              <a:rPr lang="en-US" sz="1400" dirty="0">
                <a:latin typeface="Lucida Sans Unicode"/>
                <a:cs typeface="Lucida Sans Unicode"/>
              </a:rPr>
              <a:t>unit</a:t>
            </a:r>
            <a:r>
              <a:rPr lang="en-US" sz="1400" spc="-30" dirty="0">
                <a:latin typeface="Lucida Sans Unicode"/>
                <a:cs typeface="Lucida Sans Unicode"/>
              </a:rPr>
              <a:t> </a:t>
            </a:r>
            <a:r>
              <a:rPr lang="en-US" sz="1400" dirty="0">
                <a:latin typeface="Lucida Sans Unicode"/>
                <a:cs typeface="Lucida Sans Unicode"/>
              </a:rPr>
              <a:t>prices.</a:t>
            </a:r>
            <a:r>
              <a:rPr lang="en-US" sz="1400" spc="270" dirty="0">
                <a:latin typeface="Lucida Sans Unicode"/>
                <a:cs typeface="Lucida Sans Unicode"/>
              </a:rPr>
              <a:t> </a:t>
            </a:r>
            <a:r>
              <a:rPr lang="en-US" sz="1400" spc="-10" dirty="0">
                <a:latin typeface="Lucida Sans Unicode"/>
                <a:cs typeface="Lucida Sans Unicode"/>
              </a:rPr>
              <a:t>This</a:t>
            </a:r>
            <a:r>
              <a:rPr lang="en-US" sz="1400" spc="-30" dirty="0">
                <a:latin typeface="Lucida Sans Unicode"/>
                <a:cs typeface="Lucida Sans Unicode"/>
              </a:rPr>
              <a:t> </a:t>
            </a:r>
            <a:r>
              <a:rPr lang="en-US" sz="1400" dirty="0">
                <a:latin typeface="Lucida Sans Unicode"/>
                <a:cs typeface="Lucida Sans Unicode"/>
              </a:rPr>
              <a:t>system</a:t>
            </a:r>
            <a:r>
              <a:rPr lang="en-US" sz="1400" spc="-25" dirty="0">
                <a:latin typeface="Lucida Sans Unicode"/>
                <a:cs typeface="Lucida Sans Unicode"/>
              </a:rPr>
              <a:t> </a:t>
            </a:r>
            <a:r>
              <a:rPr lang="en-US" sz="1400" dirty="0">
                <a:latin typeface="Lucida Sans Unicode"/>
                <a:cs typeface="Lucida Sans Unicode"/>
              </a:rPr>
              <a:t>replaces</a:t>
            </a:r>
            <a:r>
              <a:rPr lang="en-US" sz="1400" spc="-30" dirty="0">
                <a:latin typeface="Lucida Sans Unicode"/>
                <a:cs typeface="Lucida Sans Unicode"/>
              </a:rPr>
              <a:t> </a:t>
            </a:r>
            <a:r>
              <a:rPr lang="en-US" sz="1400" spc="-45" dirty="0">
                <a:latin typeface="Lucida Sans Unicode"/>
                <a:cs typeface="Lucida Sans Unicode"/>
              </a:rPr>
              <a:t>error </a:t>
            </a:r>
            <a:r>
              <a:rPr lang="en-US" sz="1400" spc="-10" dirty="0">
                <a:latin typeface="Lucida Sans Unicode"/>
                <a:cs typeface="Lucida Sans Unicode"/>
              </a:rPr>
              <a:t>prone </a:t>
            </a:r>
            <a:r>
              <a:rPr lang="en-US" sz="1400" spc="-20" dirty="0">
                <a:latin typeface="Lucida Sans Unicode"/>
                <a:cs typeface="Lucida Sans Unicode"/>
              </a:rPr>
              <a:t>manual</a:t>
            </a:r>
            <a:r>
              <a:rPr lang="en-US" sz="1400" spc="-60" dirty="0">
                <a:latin typeface="Lucida Sans Unicode"/>
                <a:cs typeface="Lucida Sans Unicode"/>
              </a:rPr>
              <a:t> </a:t>
            </a:r>
            <a:r>
              <a:rPr lang="en-US" sz="1400" spc="-35" dirty="0">
                <a:latin typeface="Lucida Sans Unicode"/>
                <a:cs typeface="Lucida Sans Unicode"/>
              </a:rPr>
              <a:t>tracking</a:t>
            </a:r>
            <a:r>
              <a:rPr lang="en-US" sz="1400" spc="-55" dirty="0">
                <a:latin typeface="Lucida Sans Unicode"/>
                <a:cs typeface="Lucida Sans Unicode"/>
              </a:rPr>
              <a:t> </a:t>
            </a:r>
            <a:r>
              <a:rPr lang="en-US" sz="1400" spc="-25" dirty="0">
                <a:latin typeface="Lucida Sans Unicode"/>
                <a:cs typeface="Lucida Sans Unicode"/>
              </a:rPr>
              <a:t>methods,</a:t>
            </a:r>
            <a:r>
              <a:rPr lang="en-US" sz="1400" spc="-45" dirty="0">
                <a:latin typeface="Lucida Sans Unicode"/>
                <a:cs typeface="Lucida Sans Unicode"/>
              </a:rPr>
              <a:t> </a:t>
            </a:r>
            <a:r>
              <a:rPr lang="en-US" sz="1400" spc="-20" dirty="0">
                <a:latin typeface="Lucida Sans Unicode"/>
                <a:cs typeface="Lucida Sans Unicode"/>
              </a:rPr>
              <a:t>enhancing</a:t>
            </a:r>
            <a:r>
              <a:rPr lang="en-US" sz="1400" spc="-50" dirty="0">
                <a:latin typeface="Lucida Sans Unicode"/>
                <a:cs typeface="Lucida Sans Unicode"/>
              </a:rPr>
              <a:t> </a:t>
            </a:r>
            <a:r>
              <a:rPr lang="en-US" sz="1400" spc="-10" dirty="0">
                <a:latin typeface="Lucida Sans Unicode"/>
                <a:cs typeface="Lucida Sans Unicode"/>
              </a:rPr>
              <a:t>the</a:t>
            </a:r>
            <a:r>
              <a:rPr lang="en-US" sz="1400" spc="-50" dirty="0">
                <a:latin typeface="Lucida Sans Unicode"/>
                <a:cs typeface="Lucida Sans Unicode"/>
              </a:rPr>
              <a:t> </a:t>
            </a:r>
            <a:r>
              <a:rPr lang="en-US" sz="1400" spc="-20" dirty="0">
                <a:latin typeface="Lucida Sans Unicode"/>
                <a:cs typeface="Lucida Sans Unicode"/>
              </a:rPr>
              <a:t>speed</a:t>
            </a:r>
            <a:r>
              <a:rPr lang="en-US" sz="1400" spc="-55" dirty="0">
                <a:latin typeface="Lucida Sans Unicode"/>
                <a:cs typeface="Lucida Sans Unicode"/>
              </a:rPr>
              <a:t> </a:t>
            </a:r>
            <a:r>
              <a:rPr lang="en-US" sz="1400" spc="-10" dirty="0">
                <a:latin typeface="Lucida Sans Unicode"/>
                <a:cs typeface="Lucida Sans Unicode"/>
              </a:rPr>
              <a:t>and</a:t>
            </a:r>
            <a:r>
              <a:rPr lang="en-US" sz="1400" spc="-50" dirty="0">
                <a:latin typeface="Lucida Sans Unicode"/>
                <a:cs typeface="Lucida Sans Unicode"/>
              </a:rPr>
              <a:t> </a:t>
            </a:r>
            <a:r>
              <a:rPr lang="en-US" sz="1400" spc="-30" dirty="0">
                <a:latin typeface="Lucida Sans Unicode"/>
                <a:cs typeface="Lucida Sans Unicode"/>
              </a:rPr>
              <a:t>accuracy</a:t>
            </a:r>
            <a:r>
              <a:rPr lang="en-US" sz="1400" spc="-50" dirty="0">
                <a:latin typeface="Lucida Sans Unicode"/>
                <a:cs typeface="Lucida Sans Unicode"/>
              </a:rPr>
              <a:t> of</a:t>
            </a:r>
            <a:r>
              <a:rPr lang="en-US" sz="1400" spc="-45" dirty="0">
                <a:latin typeface="Lucida Sans Unicode"/>
                <a:cs typeface="Lucida Sans Unicode"/>
              </a:rPr>
              <a:t> </a:t>
            </a:r>
            <a:r>
              <a:rPr lang="en-US" sz="1400" spc="-25" dirty="0">
                <a:latin typeface="Lucida Sans Unicode"/>
                <a:cs typeface="Lucida Sans Unicode"/>
              </a:rPr>
              <a:t>price</a:t>
            </a:r>
            <a:r>
              <a:rPr lang="en-US" sz="1400" spc="-50" dirty="0">
                <a:latin typeface="Lucida Sans Unicode"/>
                <a:cs typeface="Lucida Sans Unicode"/>
              </a:rPr>
              <a:t> </a:t>
            </a:r>
            <a:r>
              <a:rPr lang="en-US" sz="1400" spc="-40" dirty="0">
                <a:latin typeface="Lucida Sans Unicode"/>
                <a:cs typeface="Lucida Sans Unicode"/>
              </a:rPr>
              <a:t>checks</a:t>
            </a:r>
            <a:r>
              <a:rPr lang="en-US" sz="1400" spc="-55" dirty="0">
                <a:latin typeface="Lucida Sans Unicode"/>
                <a:cs typeface="Lucida Sans Unicode"/>
              </a:rPr>
              <a:t> </a:t>
            </a:r>
            <a:r>
              <a:rPr lang="en-US" sz="1400" spc="-25" dirty="0">
                <a:latin typeface="Lucida Sans Unicode"/>
                <a:cs typeface="Lucida Sans Unicode"/>
              </a:rPr>
              <a:t>and inventory</a:t>
            </a:r>
            <a:r>
              <a:rPr lang="en-US" sz="1400" spc="-10" dirty="0">
                <a:latin typeface="Lucida Sans Unicode"/>
                <a:cs typeface="Lucida Sans Unicode"/>
              </a:rPr>
              <a:t> monitoring.</a:t>
            </a:r>
            <a:endParaRPr lang="en-US" sz="1400" dirty="0">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2</a:t>
            </a:r>
          </a:p>
        </p:txBody>
      </p:sp>
      <p:sp>
        <p:nvSpPr>
          <p:cNvPr id="2" name="object 2"/>
          <p:cNvSpPr txBox="1"/>
          <p:nvPr/>
        </p:nvSpPr>
        <p:spPr>
          <a:xfrm>
            <a:off x="887298" y="1736546"/>
            <a:ext cx="3088640"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50" dirty="0">
                <a:latin typeface="Arial Black"/>
                <a:cs typeface="Arial Black"/>
              </a:rPr>
              <a:t>2</a:t>
            </a:r>
            <a:endParaRPr sz="2450">
              <a:latin typeface="Arial Black"/>
              <a:cs typeface="Arial Black"/>
            </a:endParaRPr>
          </a:p>
          <a:p>
            <a:pPr marL="12700">
              <a:lnSpc>
                <a:spcPct val="100000"/>
              </a:lnSpc>
              <a:spcBef>
                <a:spcPts val="2045"/>
              </a:spcBef>
            </a:pPr>
            <a:r>
              <a:rPr sz="2450" spc="-110" dirty="0">
                <a:latin typeface="Arial Black"/>
                <a:cs typeface="Arial Black"/>
              </a:rPr>
              <a:t>Problem</a:t>
            </a:r>
            <a:r>
              <a:rPr sz="2450" spc="-150" dirty="0">
                <a:latin typeface="Arial Black"/>
                <a:cs typeface="Arial Black"/>
              </a:rPr>
              <a:t> </a:t>
            </a:r>
            <a:r>
              <a:rPr sz="2450" spc="-95" dirty="0">
                <a:latin typeface="Arial Black"/>
                <a:cs typeface="Arial Black"/>
              </a:rPr>
              <a:t>Statement</a:t>
            </a:r>
            <a:endParaRPr sz="2450">
              <a:latin typeface="Arial Black"/>
              <a:cs typeface="Arial Black"/>
            </a:endParaRPr>
          </a:p>
        </p:txBody>
      </p:sp>
      <p:sp>
        <p:nvSpPr>
          <p:cNvPr id="3" name="object 3"/>
          <p:cNvSpPr txBox="1"/>
          <p:nvPr/>
        </p:nvSpPr>
        <p:spPr>
          <a:xfrm>
            <a:off x="887298" y="3221695"/>
            <a:ext cx="6015152" cy="2181860"/>
          </a:xfrm>
          <a:prstGeom prst="rect">
            <a:avLst/>
          </a:prstGeom>
        </p:spPr>
        <p:txBody>
          <a:bodyPr vert="horz" wrap="square" lIns="0" tIns="12065" rIns="0" bIns="0" rtlCol="0">
            <a:spAutoFit/>
          </a:bodyPr>
          <a:lstStyle/>
          <a:p>
            <a:pPr marL="12700" marR="38735">
              <a:lnSpc>
                <a:spcPct val="100000"/>
              </a:lnSpc>
              <a:spcBef>
                <a:spcPts val="95"/>
              </a:spcBef>
            </a:pPr>
            <a:r>
              <a:rPr sz="1200" spc="-60" dirty="0">
                <a:latin typeface="Lucida Sans Unicode"/>
                <a:cs typeface="Lucida Sans Unicode"/>
              </a:rPr>
              <a:t>Small-</a:t>
            </a:r>
            <a:r>
              <a:rPr sz="1200" spc="-55" dirty="0">
                <a:latin typeface="Lucida Sans Unicode"/>
                <a:cs typeface="Lucida Sans Unicode"/>
              </a:rPr>
              <a:t>scale</a:t>
            </a:r>
            <a:r>
              <a:rPr sz="1200" spc="-35" dirty="0">
                <a:latin typeface="Lucida Sans Unicode"/>
                <a:cs typeface="Lucida Sans Unicode"/>
              </a:rPr>
              <a:t> </a:t>
            </a:r>
            <a:r>
              <a:rPr sz="1200" spc="-25" dirty="0">
                <a:latin typeface="Lucida Sans Unicode"/>
                <a:cs typeface="Lucida Sans Unicode"/>
              </a:rPr>
              <a:t>inventory</a:t>
            </a:r>
            <a:r>
              <a:rPr sz="1200" spc="-35" dirty="0">
                <a:latin typeface="Lucida Sans Unicode"/>
                <a:cs typeface="Lucida Sans Unicode"/>
              </a:rPr>
              <a:t> tracking </a:t>
            </a:r>
            <a:r>
              <a:rPr sz="1200" spc="-20" dirty="0">
                <a:latin typeface="Lucida Sans Unicode"/>
                <a:cs typeface="Lucida Sans Unicode"/>
              </a:rPr>
              <a:t>often</a:t>
            </a:r>
            <a:r>
              <a:rPr sz="1200" spc="-25" dirty="0">
                <a:latin typeface="Lucida Sans Unicode"/>
                <a:cs typeface="Lucida Sans Unicode"/>
              </a:rPr>
              <a:t> </a:t>
            </a:r>
            <a:r>
              <a:rPr sz="1200" spc="-30" dirty="0">
                <a:latin typeface="Lucida Sans Unicode"/>
                <a:cs typeface="Lucida Sans Unicode"/>
              </a:rPr>
              <a:t>relies</a:t>
            </a:r>
            <a:r>
              <a:rPr sz="1200" spc="-35" dirty="0">
                <a:latin typeface="Lucida Sans Unicode"/>
                <a:cs typeface="Lucida Sans Unicode"/>
              </a:rPr>
              <a:t> </a:t>
            </a:r>
            <a:r>
              <a:rPr sz="1200" spc="-20" dirty="0">
                <a:latin typeface="Lucida Sans Unicode"/>
                <a:cs typeface="Lucida Sans Unicode"/>
              </a:rPr>
              <a:t>on</a:t>
            </a:r>
            <a:r>
              <a:rPr sz="1200" spc="-35" dirty="0">
                <a:latin typeface="Lucida Sans Unicode"/>
                <a:cs typeface="Lucida Sans Unicode"/>
              </a:rPr>
              <a:t> decentralized,</a:t>
            </a:r>
            <a:r>
              <a:rPr sz="1200" spc="-30" dirty="0">
                <a:latin typeface="Lucida Sans Unicode"/>
                <a:cs typeface="Lucida Sans Unicode"/>
              </a:rPr>
              <a:t> </a:t>
            </a:r>
            <a:r>
              <a:rPr sz="1200" spc="-50" dirty="0">
                <a:latin typeface="Lucida Sans Unicode"/>
                <a:cs typeface="Lucida Sans Unicode"/>
              </a:rPr>
              <a:t>non-</a:t>
            </a:r>
            <a:r>
              <a:rPr sz="1200" spc="-40" dirty="0">
                <a:latin typeface="Lucida Sans Unicode"/>
                <a:cs typeface="Lucida Sans Unicode"/>
              </a:rPr>
              <a:t>persistent</a:t>
            </a:r>
            <a:r>
              <a:rPr sz="1200" spc="-25" dirty="0">
                <a:latin typeface="Lucida Sans Unicode"/>
                <a:cs typeface="Lucida Sans Unicode"/>
              </a:rPr>
              <a:t> meth</a:t>
            </a:r>
            <a:r>
              <a:rPr sz="1200" spc="-30" dirty="0">
                <a:latin typeface="Lucida Sans Unicode"/>
                <a:cs typeface="Lucida Sans Unicode"/>
              </a:rPr>
              <a:t>ods</a:t>
            </a:r>
            <a:r>
              <a:rPr sz="1200" spc="-65" dirty="0">
                <a:latin typeface="Lucida Sans Unicode"/>
                <a:cs typeface="Lucida Sans Unicode"/>
              </a:rPr>
              <a:t> </a:t>
            </a:r>
            <a:r>
              <a:rPr sz="1200" spc="-30" dirty="0">
                <a:latin typeface="Lucida Sans Unicode"/>
                <a:cs typeface="Lucida Sans Unicode"/>
              </a:rPr>
              <a:t>such</a:t>
            </a:r>
            <a:r>
              <a:rPr sz="1200" spc="-60" dirty="0">
                <a:latin typeface="Lucida Sans Unicode"/>
                <a:cs typeface="Lucida Sans Unicode"/>
              </a:rPr>
              <a:t> </a:t>
            </a:r>
            <a:r>
              <a:rPr sz="1200" spc="-20" dirty="0">
                <a:latin typeface="Lucida Sans Unicode"/>
                <a:cs typeface="Lucida Sans Unicode"/>
              </a:rPr>
              <a:t>as</a:t>
            </a:r>
            <a:r>
              <a:rPr sz="1200" spc="-60" dirty="0">
                <a:latin typeface="Lucida Sans Unicode"/>
                <a:cs typeface="Lucida Sans Unicode"/>
              </a:rPr>
              <a:t> </a:t>
            </a:r>
            <a:r>
              <a:rPr sz="1200" spc="-20" dirty="0">
                <a:latin typeface="Lucida Sans Unicode"/>
                <a:cs typeface="Lucida Sans Unicode"/>
              </a:rPr>
              <a:t>spreadsheets</a:t>
            </a:r>
            <a:r>
              <a:rPr sz="1200" spc="-65" dirty="0">
                <a:latin typeface="Lucida Sans Unicode"/>
                <a:cs typeface="Lucida Sans Unicode"/>
              </a:rPr>
              <a:t> </a:t>
            </a:r>
            <a:r>
              <a:rPr sz="1200" dirty="0">
                <a:latin typeface="Lucida Sans Unicode"/>
                <a:cs typeface="Lucida Sans Unicode"/>
              </a:rPr>
              <a:t>or</a:t>
            </a:r>
            <a:r>
              <a:rPr sz="1200" spc="-60" dirty="0">
                <a:latin typeface="Lucida Sans Unicode"/>
                <a:cs typeface="Lucida Sans Unicode"/>
              </a:rPr>
              <a:t> </a:t>
            </a:r>
            <a:r>
              <a:rPr sz="1200" spc="-35" dirty="0">
                <a:latin typeface="Lucida Sans Unicode"/>
                <a:cs typeface="Lucida Sans Unicode"/>
              </a:rPr>
              <a:t>physical</a:t>
            </a:r>
            <a:r>
              <a:rPr sz="1200" spc="-60" dirty="0">
                <a:latin typeface="Lucida Sans Unicode"/>
                <a:cs typeface="Lucida Sans Unicode"/>
              </a:rPr>
              <a:t> </a:t>
            </a:r>
            <a:r>
              <a:rPr sz="1200" spc="-10" dirty="0">
                <a:latin typeface="Lucida Sans Unicode"/>
                <a:cs typeface="Lucida Sans Unicode"/>
              </a:rPr>
              <a:t>ledgers.</a:t>
            </a:r>
            <a:r>
              <a:rPr sz="1200" spc="40" dirty="0">
                <a:latin typeface="Lucida Sans Unicode"/>
                <a:cs typeface="Lucida Sans Unicode"/>
              </a:rPr>
              <a:t> </a:t>
            </a:r>
            <a:r>
              <a:rPr sz="1200" spc="-50" dirty="0">
                <a:latin typeface="Lucida Sans Unicode"/>
                <a:cs typeface="Lucida Sans Unicode"/>
              </a:rPr>
              <a:t>This</a:t>
            </a:r>
            <a:r>
              <a:rPr sz="1200" spc="-60" dirty="0">
                <a:latin typeface="Lucida Sans Unicode"/>
                <a:cs typeface="Lucida Sans Unicode"/>
              </a:rPr>
              <a:t> </a:t>
            </a:r>
            <a:r>
              <a:rPr sz="1200" spc="-20" dirty="0">
                <a:latin typeface="Lucida Sans Unicode"/>
                <a:cs typeface="Lucida Sans Unicode"/>
              </a:rPr>
              <a:t>leads</a:t>
            </a:r>
            <a:r>
              <a:rPr sz="1200" spc="-65" dirty="0">
                <a:latin typeface="Lucida Sans Unicode"/>
                <a:cs typeface="Lucida Sans Unicode"/>
              </a:rPr>
              <a:t> </a:t>
            </a:r>
            <a:r>
              <a:rPr sz="1200" spc="-20" dirty="0">
                <a:latin typeface="Lucida Sans Unicode"/>
                <a:cs typeface="Lucida Sans Unicode"/>
              </a:rPr>
              <a:t>to</a:t>
            </a:r>
            <a:r>
              <a:rPr sz="1200" spc="-60" dirty="0">
                <a:latin typeface="Lucida Sans Unicode"/>
                <a:cs typeface="Lucida Sans Unicode"/>
              </a:rPr>
              <a:t> </a:t>
            </a:r>
            <a:r>
              <a:rPr sz="1200" spc="-25" dirty="0">
                <a:latin typeface="Lucida Sans Unicode"/>
                <a:cs typeface="Lucida Sans Unicode"/>
              </a:rPr>
              <a:t>several</a:t>
            </a:r>
            <a:r>
              <a:rPr sz="1200" spc="-60" dirty="0">
                <a:latin typeface="Lucida Sans Unicode"/>
                <a:cs typeface="Lucida Sans Unicode"/>
              </a:rPr>
              <a:t> </a:t>
            </a:r>
            <a:r>
              <a:rPr sz="1200" spc="-10" dirty="0">
                <a:latin typeface="Lucida Sans Unicode"/>
                <a:cs typeface="Lucida Sans Unicode"/>
              </a:rPr>
              <a:t>issues:</a:t>
            </a:r>
            <a:endParaRPr sz="1200" dirty="0">
              <a:latin typeface="Lucida Sans Unicode"/>
              <a:cs typeface="Lucida Sans Unicode"/>
            </a:endParaRPr>
          </a:p>
          <a:p>
            <a:pPr marL="389255" marR="5080" indent="-201295">
              <a:lnSpc>
                <a:spcPct val="100000"/>
              </a:lnSpc>
              <a:spcBef>
                <a:spcPts val="1005"/>
              </a:spcBef>
              <a:buFont typeface="Lucida Sans Unicode"/>
              <a:buAutoNum type="arabicPeriod"/>
              <a:tabLst>
                <a:tab pos="391795" algn="l"/>
              </a:tabLst>
            </a:pPr>
            <a:r>
              <a:rPr sz="1200" spc="-80" dirty="0">
                <a:latin typeface="Arial Black"/>
                <a:cs typeface="Arial Black"/>
              </a:rPr>
              <a:t>Inaccurate</a:t>
            </a:r>
            <a:r>
              <a:rPr sz="1200" spc="-165" dirty="0">
                <a:latin typeface="Arial Black"/>
                <a:cs typeface="Arial Black"/>
              </a:rPr>
              <a:t> </a:t>
            </a:r>
            <a:r>
              <a:rPr sz="1200" spc="-65" dirty="0">
                <a:latin typeface="Arial Black"/>
                <a:cs typeface="Arial Black"/>
              </a:rPr>
              <a:t>Pricing:</a:t>
            </a:r>
            <a:r>
              <a:rPr sz="1200" spc="20" dirty="0">
                <a:latin typeface="Arial Black"/>
                <a:cs typeface="Arial Black"/>
              </a:rPr>
              <a:t> </a:t>
            </a:r>
            <a:r>
              <a:rPr sz="1200" spc="-10" dirty="0">
                <a:latin typeface="Lucida Sans Unicode"/>
                <a:cs typeface="Lucida Sans Unicode"/>
              </a:rPr>
              <a:t>Manual</a:t>
            </a:r>
            <a:r>
              <a:rPr sz="1200" spc="-145" dirty="0">
                <a:latin typeface="Lucida Sans Unicode"/>
                <a:cs typeface="Lucida Sans Unicode"/>
              </a:rPr>
              <a:t> </a:t>
            </a:r>
            <a:r>
              <a:rPr sz="1200" spc="-20" dirty="0">
                <a:latin typeface="Lucida Sans Unicode"/>
                <a:cs typeface="Lucida Sans Unicode"/>
              </a:rPr>
              <a:t>updates</a:t>
            </a:r>
            <a:r>
              <a:rPr sz="1200" spc="-140" dirty="0">
                <a:latin typeface="Lucida Sans Unicode"/>
                <a:cs typeface="Lucida Sans Unicode"/>
              </a:rPr>
              <a:t> </a:t>
            </a:r>
            <a:r>
              <a:rPr sz="1200" spc="-20" dirty="0">
                <a:latin typeface="Lucida Sans Unicode"/>
                <a:cs typeface="Lucida Sans Unicode"/>
              </a:rPr>
              <a:t>lead</a:t>
            </a:r>
            <a:r>
              <a:rPr sz="1200" spc="-145" dirty="0">
                <a:latin typeface="Lucida Sans Unicode"/>
                <a:cs typeface="Lucida Sans Unicode"/>
              </a:rPr>
              <a:t> </a:t>
            </a:r>
            <a:r>
              <a:rPr sz="1200" spc="-25" dirty="0">
                <a:latin typeface="Lucida Sans Unicode"/>
                <a:cs typeface="Lucida Sans Unicode"/>
              </a:rPr>
              <a:t>to</a:t>
            </a:r>
            <a:r>
              <a:rPr sz="1200" spc="-140" dirty="0">
                <a:latin typeface="Lucida Sans Unicode"/>
                <a:cs typeface="Lucida Sans Unicode"/>
              </a:rPr>
              <a:t> </a:t>
            </a:r>
            <a:r>
              <a:rPr lang="en-IN" sz="1200" spc="-30" dirty="0">
                <a:latin typeface="Lucida Sans Unicode"/>
                <a:cs typeface="Lucida Sans Unicode"/>
              </a:rPr>
              <a:t>confusions</a:t>
            </a:r>
            <a:r>
              <a:rPr sz="1200" spc="-145" dirty="0">
                <a:latin typeface="Lucida Sans Unicode"/>
                <a:cs typeface="Lucida Sans Unicode"/>
              </a:rPr>
              <a:t> </a:t>
            </a:r>
            <a:r>
              <a:rPr sz="1200" dirty="0">
                <a:latin typeface="Lucida Sans Unicode"/>
                <a:cs typeface="Lucida Sans Unicode"/>
              </a:rPr>
              <a:t>between</a:t>
            </a:r>
            <a:r>
              <a:rPr sz="1200" spc="-140" dirty="0">
                <a:latin typeface="Lucida Sans Unicode"/>
                <a:cs typeface="Lucida Sans Unicode"/>
              </a:rPr>
              <a:t> </a:t>
            </a:r>
            <a:r>
              <a:rPr sz="1200" spc="-10" dirty="0">
                <a:latin typeface="Lucida Sans Unicode"/>
                <a:cs typeface="Lucida Sans Unicode"/>
              </a:rPr>
              <a:t>recorded 	</a:t>
            </a:r>
            <a:r>
              <a:rPr sz="1200" spc="-25" dirty="0">
                <a:latin typeface="Lucida Sans Unicode"/>
                <a:cs typeface="Lucida Sans Unicode"/>
              </a:rPr>
              <a:t>prices</a:t>
            </a:r>
            <a:r>
              <a:rPr sz="1200" spc="-50" dirty="0">
                <a:latin typeface="Lucida Sans Unicode"/>
                <a:cs typeface="Lucida Sans Unicode"/>
              </a:rPr>
              <a:t> </a:t>
            </a:r>
            <a:r>
              <a:rPr sz="1200" dirty="0">
                <a:latin typeface="Lucida Sans Unicode"/>
                <a:cs typeface="Lucida Sans Unicode"/>
              </a:rPr>
              <a:t>and</a:t>
            </a:r>
            <a:r>
              <a:rPr sz="1200" spc="-45" dirty="0">
                <a:latin typeface="Lucida Sans Unicode"/>
                <a:cs typeface="Lucida Sans Unicode"/>
              </a:rPr>
              <a:t> </a:t>
            </a:r>
            <a:r>
              <a:rPr sz="1200" spc="-20" dirty="0">
                <a:latin typeface="Lucida Sans Unicode"/>
                <a:cs typeface="Lucida Sans Unicode"/>
              </a:rPr>
              <a:t>actual</a:t>
            </a:r>
            <a:r>
              <a:rPr sz="1200" spc="-50" dirty="0">
                <a:latin typeface="Lucida Sans Unicode"/>
                <a:cs typeface="Lucida Sans Unicode"/>
              </a:rPr>
              <a:t> </a:t>
            </a:r>
            <a:r>
              <a:rPr sz="1200" spc="-30" dirty="0">
                <a:latin typeface="Lucida Sans Unicode"/>
                <a:cs typeface="Lucida Sans Unicode"/>
              </a:rPr>
              <a:t>prices,</a:t>
            </a:r>
            <a:r>
              <a:rPr sz="1200" spc="-45" dirty="0">
                <a:latin typeface="Lucida Sans Unicode"/>
                <a:cs typeface="Lucida Sans Unicode"/>
              </a:rPr>
              <a:t> </a:t>
            </a:r>
            <a:r>
              <a:rPr sz="1200" spc="-30" dirty="0">
                <a:latin typeface="Lucida Sans Unicode"/>
                <a:cs typeface="Lucida Sans Unicode"/>
              </a:rPr>
              <a:t>causing</a:t>
            </a:r>
            <a:r>
              <a:rPr sz="1200" spc="-50" dirty="0">
                <a:latin typeface="Lucida Sans Unicode"/>
                <a:cs typeface="Lucida Sans Unicode"/>
              </a:rPr>
              <a:t> </a:t>
            </a:r>
            <a:r>
              <a:rPr sz="1200" spc="-25" dirty="0">
                <a:latin typeface="Lucida Sans Unicode"/>
                <a:cs typeface="Lucida Sans Unicode"/>
              </a:rPr>
              <a:t>transactional</a:t>
            </a:r>
            <a:r>
              <a:rPr sz="1200" spc="-45" dirty="0">
                <a:latin typeface="Lucida Sans Unicode"/>
                <a:cs typeface="Lucida Sans Unicode"/>
              </a:rPr>
              <a:t> </a:t>
            </a:r>
            <a:r>
              <a:rPr sz="1200" spc="-10" dirty="0">
                <a:latin typeface="Lucida Sans Unicode"/>
                <a:cs typeface="Lucida Sans Unicode"/>
              </a:rPr>
              <a:t>errors.</a:t>
            </a:r>
            <a:endParaRPr sz="1200" dirty="0">
              <a:latin typeface="Lucida Sans Unicode"/>
              <a:cs typeface="Lucida Sans Unicode"/>
            </a:endParaRPr>
          </a:p>
          <a:p>
            <a:pPr marL="389255" marR="38735" indent="-201295">
              <a:lnSpc>
                <a:spcPct val="100000"/>
              </a:lnSpc>
              <a:spcBef>
                <a:spcPts val="1005"/>
              </a:spcBef>
              <a:buFont typeface="Lucida Sans Unicode"/>
              <a:buAutoNum type="arabicPeriod"/>
              <a:tabLst>
                <a:tab pos="391795" algn="l"/>
              </a:tabLst>
            </a:pPr>
            <a:r>
              <a:rPr sz="1200" spc="-60" dirty="0">
                <a:latin typeface="Arial Black"/>
                <a:cs typeface="Arial Black"/>
              </a:rPr>
              <a:t>Poor</a:t>
            </a:r>
            <a:r>
              <a:rPr sz="1200" spc="-95" dirty="0">
                <a:latin typeface="Arial Black"/>
                <a:cs typeface="Arial Black"/>
              </a:rPr>
              <a:t> </a:t>
            </a:r>
            <a:r>
              <a:rPr sz="1200" spc="-114" dirty="0">
                <a:latin typeface="Arial Black"/>
                <a:cs typeface="Arial Black"/>
              </a:rPr>
              <a:t>Stock</a:t>
            </a:r>
            <a:r>
              <a:rPr sz="1200" spc="-95" dirty="0">
                <a:latin typeface="Arial Black"/>
                <a:cs typeface="Arial Black"/>
              </a:rPr>
              <a:t> </a:t>
            </a:r>
            <a:r>
              <a:rPr sz="1200" spc="-60" dirty="0">
                <a:latin typeface="Arial Black"/>
                <a:cs typeface="Arial Black"/>
              </a:rPr>
              <a:t>Visibility:</a:t>
            </a:r>
            <a:r>
              <a:rPr sz="1200" spc="40" dirty="0">
                <a:latin typeface="Arial Black"/>
                <a:cs typeface="Arial Black"/>
              </a:rPr>
              <a:t> </a:t>
            </a:r>
            <a:r>
              <a:rPr sz="1200" spc="-60" dirty="0">
                <a:latin typeface="Lucida Sans Unicode"/>
                <a:cs typeface="Lucida Sans Unicode"/>
              </a:rPr>
              <a:t>Real</a:t>
            </a:r>
            <a:r>
              <a:rPr lang="en-IN" sz="1200" spc="-60" dirty="0">
                <a:latin typeface="Lucida Sans Unicode"/>
                <a:cs typeface="Lucida Sans Unicode"/>
              </a:rPr>
              <a:t> </a:t>
            </a:r>
            <a:r>
              <a:rPr sz="1200" spc="-60" dirty="0">
                <a:latin typeface="Lucida Sans Unicode"/>
                <a:cs typeface="Lucida Sans Unicode"/>
              </a:rPr>
              <a:t>time</a:t>
            </a:r>
            <a:r>
              <a:rPr sz="1200" spc="-75" dirty="0">
                <a:latin typeface="Lucida Sans Unicode"/>
                <a:cs typeface="Lucida Sans Unicode"/>
              </a:rPr>
              <a:t> </a:t>
            </a:r>
            <a:r>
              <a:rPr sz="1200" spc="-45" dirty="0">
                <a:latin typeface="Lucida Sans Unicode"/>
                <a:cs typeface="Lucida Sans Unicode"/>
              </a:rPr>
              <a:t>stock</a:t>
            </a:r>
            <a:r>
              <a:rPr sz="1200" spc="-70" dirty="0">
                <a:latin typeface="Lucida Sans Unicode"/>
                <a:cs typeface="Lucida Sans Unicode"/>
              </a:rPr>
              <a:t> </a:t>
            </a:r>
            <a:r>
              <a:rPr sz="1200" spc="-30" dirty="0">
                <a:latin typeface="Lucida Sans Unicode"/>
                <a:cs typeface="Lucida Sans Unicode"/>
              </a:rPr>
              <a:t>levels</a:t>
            </a:r>
            <a:r>
              <a:rPr sz="1200" spc="-75" dirty="0">
                <a:latin typeface="Lucida Sans Unicode"/>
                <a:cs typeface="Lucida Sans Unicode"/>
              </a:rPr>
              <a:t> </a:t>
            </a:r>
            <a:r>
              <a:rPr sz="1200" spc="-10" dirty="0">
                <a:latin typeface="Lucida Sans Unicode"/>
                <a:cs typeface="Lucida Sans Unicode"/>
              </a:rPr>
              <a:t>are</a:t>
            </a:r>
            <a:r>
              <a:rPr sz="1200" spc="-75" dirty="0">
                <a:latin typeface="Lucida Sans Unicode"/>
                <a:cs typeface="Lucida Sans Unicode"/>
              </a:rPr>
              <a:t> </a:t>
            </a:r>
            <a:r>
              <a:rPr sz="1200" spc="-30" dirty="0">
                <a:latin typeface="Lucida Sans Unicode"/>
                <a:cs typeface="Lucida Sans Unicode"/>
              </a:rPr>
              <a:t>unknown,</a:t>
            </a:r>
            <a:r>
              <a:rPr sz="1200" spc="-70" dirty="0">
                <a:latin typeface="Lucida Sans Unicode"/>
                <a:cs typeface="Lucida Sans Unicode"/>
              </a:rPr>
              <a:t> </a:t>
            </a:r>
            <a:r>
              <a:rPr sz="1200" spc="-30" dirty="0">
                <a:latin typeface="Lucida Sans Unicode"/>
                <a:cs typeface="Lucida Sans Unicode"/>
              </a:rPr>
              <a:t>resulting</a:t>
            </a:r>
            <a:r>
              <a:rPr sz="1200" spc="-75" dirty="0">
                <a:latin typeface="Lucida Sans Unicode"/>
                <a:cs typeface="Lucida Sans Unicode"/>
              </a:rPr>
              <a:t> </a:t>
            </a:r>
            <a:r>
              <a:rPr sz="1200" spc="-35" dirty="0">
                <a:latin typeface="Lucida Sans Unicode"/>
                <a:cs typeface="Lucida Sans Unicode"/>
              </a:rPr>
              <a:t>in</a:t>
            </a:r>
            <a:r>
              <a:rPr sz="1200" spc="-70" dirty="0">
                <a:latin typeface="Lucida Sans Unicode"/>
                <a:cs typeface="Lucida Sans Unicode"/>
              </a:rPr>
              <a:t> </a:t>
            </a:r>
            <a:r>
              <a:rPr sz="1200" spc="-55" dirty="0">
                <a:latin typeface="Lucida Sans Unicode"/>
                <a:cs typeface="Lucida Sans Unicode"/>
              </a:rPr>
              <a:t>unex</a:t>
            </a:r>
            <a:r>
              <a:rPr sz="1200" spc="-20" dirty="0">
                <a:latin typeface="Lucida Sans Unicode"/>
                <a:cs typeface="Lucida Sans Unicode"/>
              </a:rPr>
              <a:t>pected</a:t>
            </a:r>
            <a:r>
              <a:rPr sz="1200" spc="-50" dirty="0">
                <a:latin typeface="Lucida Sans Unicode"/>
                <a:cs typeface="Lucida Sans Unicode"/>
              </a:rPr>
              <a:t> </a:t>
            </a:r>
            <a:r>
              <a:rPr sz="1200" spc="-35" dirty="0">
                <a:latin typeface="Lucida Sans Unicode"/>
                <a:cs typeface="Lucida Sans Unicode"/>
              </a:rPr>
              <a:t>stock</a:t>
            </a:r>
            <a:r>
              <a:rPr lang="en-IN" sz="1200" spc="-35" dirty="0">
                <a:latin typeface="Lucida Sans Unicode"/>
                <a:cs typeface="Lucida Sans Unicode"/>
              </a:rPr>
              <a:t> finish</a:t>
            </a:r>
            <a:r>
              <a:rPr sz="1200" spc="-50" dirty="0">
                <a:latin typeface="Lucida Sans Unicode"/>
                <a:cs typeface="Lucida Sans Unicode"/>
              </a:rPr>
              <a:t> </a:t>
            </a:r>
            <a:r>
              <a:rPr sz="1200" dirty="0">
                <a:latin typeface="Lucida Sans Unicode"/>
                <a:cs typeface="Lucida Sans Unicode"/>
              </a:rPr>
              <a:t>or</a:t>
            </a:r>
            <a:r>
              <a:rPr sz="1200" spc="-50" dirty="0">
                <a:latin typeface="Lucida Sans Unicode"/>
                <a:cs typeface="Lucida Sans Unicode"/>
              </a:rPr>
              <a:t> </a:t>
            </a:r>
            <a:r>
              <a:rPr sz="1200" spc="-10" dirty="0">
                <a:latin typeface="Lucida Sans Unicode"/>
                <a:cs typeface="Lucida Sans Unicode"/>
              </a:rPr>
              <a:t>overstocking.</a:t>
            </a:r>
            <a:endParaRPr sz="1200" dirty="0">
              <a:latin typeface="Lucida Sans Unicode"/>
              <a:cs typeface="Lucida Sans Unicode"/>
            </a:endParaRPr>
          </a:p>
          <a:p>
            <a:pPr marL="389890" indent="-201295">
              <a:lnSpc>
                <a:spcPct val="100000"/>
              </a:lnSpc>
              <a:spcBef>
                <a:spcPts val="1005"/>
              </a:spcBef>
              <a:buFont typeface="Lucida Sans Unicode"/>
              <a:buAutoNum type="arabicPeriod"/>
              <a:tabLst>
                <a:tab pos="389890" algn="l"/>
              </a:tabLst>
            </a:pPr>
            <a:r>
              <a:rPr sz="1200" spc="-114" dirty="0">
                <a:latin typeface="Arial Black"/>
                <a:cs typeface="Arial Black"/>
              </a:rPr>
              <a:t>Lack</a:t>
            </a:r>
            <a:r>
              <a:rPr sz="1200" spc="-75" dirty="0">
                <a:latin typeface="Arial Black"/>
                <a:cs typeface="Arial Black"/>
              </a:rPr>
              <a:t> </a:t>
            </a:r>
            <a:r>
              <a:rPr sz="1200" spc="-35" dirty="0">
                <a:latin typeface="Arial Black"/>
                <a:cs typeface="Arial Black"/>
              </a:rPr>
              <a:t>of</a:t>
            </a:r>
            <a:r>
              <a:rPr sz="1200" spc="-75" dirty="0">
                <a:latin typeface="Arial Black"/>
                <a:cs typeface="Arial Black"/>
              </a:rPr>
              <a:t> </a:t>
            </a:r>
            <a:r>
              <a:rPr sz="1200" spc="-95" dirty="0">
                <a:latin typeface="Arial Black"/>
                <a:cs typeface="Arial Black"/>
              </a:rPr>
              <a:t>Persistence:</a:t>
            </a:r>
            <a:r>
              <a:rPr sz="1200" spc="30" dirty="0">
                <a:latin typeface="Arial Black"/>
                <a:cs typeface="Arial Black"/>
              </a:rPr>
              <a:t> </a:t>
            </a:r>
            <a:r>
              <a:rPr sz="1200" spc="-10" dirty="0">
                <a:latin typeface="Lucida Sans Unicode"/>
                <a:cs typeface="Lucida Sans Unicode"/>
              </a:rPr>
              <a:t>Data</a:t>
            </a:r>
            <a:r>
              <a:rPr sz="1200" spc="-55" dirty="0">
                <a:latin typeface="Lucida Sans Unicode"/>
                <a:cs typeface="Lucida Sans Unicode"/>
              </a:rPr>
              <a:t> </a:t>
            </a:r>
            <a:r>
              <a:rPr sz="1200" spc="-50" dirty="0">
                <a:latin typeface="Lucida Sans Unicode"/>
                <a:cs typeface="Lucida Sans Unicode"/>
              </a:rPr>
              <a:t>is</a:t>
            </a:r>
            <a:r>
              <a:rPr sz="1200" spc="-55" dirty="0">
                <a:latin typeface="Lucida Sans Unicode"/>
                <a:cs typeface="Lucida Sans Unicode"/>
              </a:rPr>
              <a:t> </a:t>
            </a:r>
            <a:r>
              <a:rPr sz="1200" spc="-25" dirty="0">
                <a:latin typeface="Lucida Sans Unicode"/>
                <a:cs typeface="Lucida Sans Unicode"/>
              </a:rPr>
              <a:t>volatile</a:t>
            </a:r>
            <a:r>
              <a:rPr sz="1200" spc="-55" dirty="0">
                <a:latin typeface="Lucida Sans Unicode"/>
                <a:cs typeface="Lucida Sans Unicode"/>
              </a:rPr>
              <a:t> </a:t>
            </a:r>
            <a:r>
              <a:rPr sz="1200" dirty="0">
                <a:latin typeface="Lucida Sans Unicode"/>
                <a:cs typeface="Lucida Sans Unicode"/>
              </a:rPr>
              <a:t>or</a:t>
            </a:r>
            <a:r>
              <a:rPr sz="1200" spc="-50" dirty="0">
                <a:latin typeface="Lucida Sans Unicode"/>
                <a:cs typeface="Lucida Sans Unicode"/>
              </a:rPr>
              <a:t> </a:t>
            </a:r>
            <a:r>
              <a:rPr sz="1200" spc="-25" dirty="0">
                <a:latin typeface="Lucida Sans Unicode"/>
                <a:cs typeface="Lucida Sans Unicode"/>
              </a:rPr>
              <a:t>easily</a:t>
            </a:r>
            <a:r>
              <a:rPr sz="1200" spc="-55" dirty="0">
                <a:latin typeface="Lucida Sans Unicode"/>
                <a:cs typeface="Lucida Sans Unicode"/>
              </a:rPr>
              <a:t> </a:t>
            </a:r>
            <a:r>
              <a:rPr sz="1200" spc="-10" dirty="0">
                <a:latin typeface="Lucida Sans Unicode"/>
                <a:cs typeface="Lucida Sans Unicode"/>
              </a:rPr>
              <a:t>corrupted.</a:t>
            </a:r>
            <a:endParaRPr sz="1200" dirty="0">
              <a:latin typeface="Lucida Sans Unicode"/>
              <a:cs typeface="Lucida Sans Unicode"/>
            </a:endParaRPr>
          </a:p>
          <a:p>
            <a:pPr marL="12700" marR="38735">
              <a:lnSpc>
                <a:spcPct val="100000"/>
              </a:lnSpc>
              <a:spcBef>
                <a:spcPts val="1000"/>
              </a:spcBef>
            </a:pPr>
            <a:r>
              <a:rPr sz="1200" spc="-45" dirty="0">
                <a:latin typeface="Lucida Sans Unicode"/>
                <a:cs typeface="Lucida Sans Unicode"/>
              </a:rPr>
              <a:t>The</a:t>
            </a:r>
            <a:r>
              <a:rPr sz="1200" spc="-50" dirty="0">
                <a:latin typeface="Lucida Sans Unicode"/>
                <a:cs typeface="Lucida Sans Unicode"/>
              </a:rPr>
              <a:t> </a:t>
            </a:r>
            <a:r>
              <a:rPr sz="1200" dirty="0">
                <a:latin typeface="Lucida Sans Unicode"/>
                <a:cs typeface="Lucida Sans Unicode"/>
              </a:rPr>
              <a:t>BIPC</a:t>
            </a:r>
            <a:r>
              <a:rPr sz="1200" spc="-50" dirty="0">
                <a:latin typeface="Lucida Sans Unicode"/>
                <a:cs typeface="Lucida Sans Unicode"/>
              </a:rPr>
              <a:t> </a:t>
            </a:r>
            <a:r>
              <a:rPr sz="1200" spc="-25" dirty="0">
                <a:latin typeface="Lucida Sans Unicode"/>
                <a:cs typeface="Lucida Sans Unicode"/>
              </a:rPr>
              <a:t>aims</a:t>
            </a:r>
            <a:r>
              <a:rPr sz="1200" spc="-45" dirty="0">
                <a:latin typeface="Lucida Sans Unicode"/>
                <a:cs typeface="Lucida Sans Unicode"/>
              </a:rPr>
              <a:t> </a:t>
            </a:r>
            <a:r>
              <a:rPr sz="1200" spc="-25" dirty="0">
                <a:latin typeface="Lucida Sans Unicode"/>
                <a:cs typeface="Lucida Sans Unicode"/>
              </a:rPr>
              <a:t>to</a:t>
            </a:r>
            <a:r>
              <a:rPr sz="1200" spc="-50" dirty="0">
                <a:latin typeface="Lucida Sans Unicode"/>
                <a:cs typeface="Lucida Sans Unicode"/>
              </a:rPr>
              <a:t> </a:t>
            </a:r>
            <a:r>
              <a:rPr sz="1200" spc="-30" dirty="0">
                <a:latin typeface="Lucida Sans Unicode"/>
                <a:cs typeface="Lucida Sans Unicode"/>
              </a:rPr>
              <a:t>solve</a:t>
            </a:r>
            <a:r>
              <a:rPr sz="1200" spc="-50" dirty="0">
                <a:latin typeface="Lucida Sans Unicode"/>
                <a:cs typeface="Lucida Sans Unicode"/>
              </a:rPr>
              <a:t> </a:t>
            </a:r>
            <a:r>
              <a:rPr sz="1200" spc="-40" dirty="0">
                <a:latin typeface="Lucida Sans Unicode"/>
                <a:cs typeface="Lucida Sans Unicode"/>
              </a:rPr>
              <a:t>this</a:t>
            </a:r>
            <a:r>
              <a:rPr sz="1200" spc="-45" dirty="0">
                <a:latin typeface="Lucida Sans Unicode"/>
                <a:cs typeface="Lucida Sans Unicode"/>
              </a:rPr>
              <a:t> </a:t>
            </a:r>
            <a:r>
              <a:rPr sz="1200" spc="-35" dirty="0">
                <a:latin typeface="Lucida Sans Unicode"/>
                <a:cs typeface="Lucida Sans Unicode"/>
              </a:rPr>
              <a:t>by</a:t>
            </a:r>
            <a:r>
              <a:rPr sz="1200" spc="-50" dirty="0">
                <a:latin typeface="Lucida Sans Unicode"/>
                <a:cs typeface="Lucida Sans Unicode"/>
              </a:rPr>
              <a:t> </a:t>
            </a:r>
            <a:r>
              <a:rPr sz="1200" spc="-30" dirty="0">
                <a:latin typeface="Lucida Sans Unicode"/>
                <a:cs typeface="Lucida Sans Unicode"/>
              </a:rPr>
              <a:t>providing</a:t>
            </a:r>
            <a:r>
              <a:rPr sz="1200" spc="-45" dirty="0">
                <a:latin typeface="Lucida Sans Unicode"/>
                <a:cs typeface="Lucida Sans Unicode"/>
              </a:rPr>
              <a:t> </a:t>
            </a:r>
            <a:r>
              <a:rPr sz="1200" dirty="0">
                <a:latin typeface="Lucida Sans Unicode"/>
                <a:cs typeface="Lucida Sans Unicode"/>
              </a:rPr>
              <a:t>a</a:t>
            </a:r>
            <a:r>
              <a:rPr sz="1200" spc="-50" dirty="0">
                <a:latin typeface="Lucida Sans Unicode"/>
                <a:cs typeface="Lucida Sans Unicode"/>
              </a:rPr>
              <a:t> </a:t>
            </a:r>
            <a:r>
              <a:rPr sz="1200" spc="-35" dirty="0">
                <a:latin typeface="Lucida Sans Unicode"/>
                <a:cs typeface="Lucida Sans Unicode"/>
              </a:rPr>
              <a:t>single,</a:t>
            </a:r>
            <a:r>
              <a:rPr sz="1200" spc="-40" dirty="0">
                <a:latin typeface="Lucida Sans Unicode"/>
                <a:cs typeface="Lucida Sans Unicode"/>
              </a:rPr>
              <a:t> </a:t>
            </a:r>
            <a:r>
              <a:rPr sz="1200" spc="-30" dirty="0">
                <a:latin typeface="Lucida Sans Unicode"/>
                <a:cs typeface="Lucida Sans Unicode"/>
              </a:rPr>
              <a:t>persistent,</a:t>
            </a:r>
            <a:r>
              <a:rPr sz="1200" spc="-45" dirty="0">
                <a:latin typeface="Lucida Sans Unicode"/>
                <a:cs typeface="Lucida Sans Unicode"/>
              </a:rPr>
              <a:t> </a:t>
            </a:r>
            <a:r>
              <a:rPr sz="1200" spc="-10" dirty="0">
                <a:latin typeface="Lucida Sans Unicode"/>
                <a:cs typeface="Lucida Sans Unicode"/>
              </a:rPr>
              <a:t>and</a:t>
            </a:r>
            <a:r>
              <a:rPr sz="1200" spc="-45" dirty="0">
                <a:latin typeface="Lucida Sans Unicode"/>
                <a:cs typeface="Lucida Sans Unicode"/>
              </a:rPr>
              <a:t> </a:t>
            </a:r>
            <a:r>
              <a:rPr sz="1200" spc="-25" dirty="0">
                <a:latin typeface="Lucida Sans Unicode"/>
                <a:cs typeface="Lucida Sans Unicode"/>
              </a:rPr>
              <a:t>verifiable</a:t>
            </a:r>
            <a:r>
              <a:rPr sz="1200" spc="-50" dirty="0">
                <a:latin typeface="Lucida Sans Unicode"/>
                <a:cs typeface="Lucida Sans Unicode"/>
              </a:rPr>
              <a:t> </a:t>
            </a:r>
            <a:r>
              <a:rPr sz="1200" spc="-10" dirty="0">
                <a:latin typeface="Lucida Sans Unicode"/>
                <a:cs typeface="Lucida Sans Unicode"/>
              </a:rPr>
              <a:t>source </a:t>
            </a:r>
            <a:r>
              <a:rPr sz="1200" spc="-30" dirty="0">
                <a:latin typeface="Lucida Sans Unicode"/>
                <a:cs typeface="Lucida Sans Unicode"/>
              </a:rPr>
              <a:t>of</a:t>
            </a:r>
            <a:r>
              <a:rPr sz="1200" spc="-50" dirty="0">
                <a:latin typeface="Lucida Sans Unicode"/>
                <a:cs typeface="Lucida Sans Unicode"/>
              </a:rPr>
              <a:t> </a:t>
            </a:r>
            <a:r>
              <a:rPr sz="1200" spc="-10" dirty="0">
                <a:latin typeface="Lucida Sans Unicode"/>
                <a:cs typeface="Lucida Sans Unicode"/>
              </a:rPr>
              <a:t>truth</a:t>
            </a:r>
            <a:r>
              <a:rPr sz="1200" spc="-50" dirty="0">
                <a:latin typeface="Lucida Sans Unicode"/>
                <a:cs typeface="Lucida Sans Unicode"/>
              </a:rPr>
              <a:t> </a:t>
            </a:r>
            <a:r>
              <a:rPr sz="1200" spc="-20" dirty="0">
                <a:latin typeface="Lucida Sans Unicode"/>
                <a:cs typeface="Lucida Sans Unicode"/>
              </a:rPr>
              <a:t>for</a:t>
            </a:r>
            <a:r>
              <a:rPr sz="1200" spc="-50" dirty="0">
                <a:latin typeface="Lucida Sans Unicode"/>
                <a:cs typeface="Lucida Sans Unicode"/>
              </a:rPr>
              <a:t> </a:t>
            </a:r>
            <a:r>
              <a:rPr sz="1200" spc="-35" dirty="0">
                <a:latin typeface="Lucida Sans Unicode"/>
                <a:cs typeface="Lucida Sans Unicode"/>
              </a:rPr>
              <a:t>all</a:t>
            </a:r>
            <a:r>
              <a:rPr sz="1200" spc="-50" dirty="0">
                <a:latin typeface="Lucida Sans Unicode"/>
                <a:cs typeface="Lucida Sans Unicode"/>
              </a:rPr>
              <a:t> </a:t>
            </a:r>
            <a:r>
              <a:rPr sz="1200" spc="-25" dirty="0">
                <a:latin typeface="Lucida Sans Unicode"/>
                <a:cs typeface="Lucida Sans Unicode"/>
              </a:rPr>
              <a:t>inventory</a:t>
            </a:r>
            <a:r>
              <a:rPr sz="1200" spc="-50" dirty="0">
                <a:latin typeface="Lucida Sans Unicode"/>
                <a:cs typeface="Lucida Sans Unicode"/>
              </a:rPr>
              <a:t> </a:t>
            </a:r>
            <a:r>
              <a:rPr sz="1200" spc="-20" dirty="0">
                <a:latin typeface="Lucida Sans Unicode"/>
                <a:cs typeface="Lucida Sans Unicode"/>
              </a:rPr>
              <a:t>data,</a:t>
            </a:r>
            <a:r>
              <a:rPr sz="1200" spc="-50" dirty="0">
                <a:latin typeface="Lucida Sans Unicode"/>
                <a:cs typeface="Lucida Sans Unicode"/>
              </a:rPr>
              <a:t> </a:t>
            </a:r>
            <a:r>
              <a:rPr sz="1200" spc="-25" dirty="0">
                <a:latin typeface="Lucida Sans Unicode"/>
                <a:cs typeface="Lucida Sans Unicode"/>
              </a:rPr>
              <a:t>ensuring</a:t>
            </a:r>
            <a:r>
              <a:rPr sz="1200" spc="-50" dirty="0">
                <a:latin typeface="Lucida Sans Unicode"/>
                <a:cs typeface="Lucida Sans Unicode"/>
              </a:rPr>
              <a:t> </a:t>
            </a:r>
            <a:r>
              <a:rPr sz="1200" spc="-25" dirty="0">
                <a:latin typeface="Lucida Sans Unicode"/>
                <a:cs typeface="Lucida Sans Unicode"/>
              </a:rPr>
              <a:t>instant</a:t>
            </a:r>
            <a:r>
              <a:rPr sz="1200" spc="-50" dirty="0">
                <a:latin typeface="Lucida Sans Unicode"/>
                <a:cs typeface="Lucida Sans Unicode"/>
              </a:rPr>
              <a:t> </a:t>
            </a:r>
            <a:r>
              <a:rPr sz="1200" dirty="0">
                <a:latin typeface="Lucida Sans Unicode"/>
                <a:cs typeface="Lucida Sans Unicode"/>
              </a:rPr>
              <a:t>and</a:t>
            </a:r>
            <a:r>
              <a:rPr sz="1200" spc="-45" dirty="0">
                <a:latin typeface="Lucida Sans Unicode"/>
                <a:cs typeface="Lucida Sans Unicode"/>
              </a:rPr>
              <a:t> </a:t>
            </a:r>
            <a:r>
              <a:rPr sz="1200" spc="-20" dirty="0">
                <a:latin typeface="Lucida Sans Unicode"/>
                <a:cs typeface="Lucida Sans Unicode"/>
              </a:rPr>
              <a:t>accurate</a:t>
            </a:r>
            <a:r>
              <a:rPr sz="1200" spc="-50" dirty="0">
                <a:latin typeface="Lucida Sans Unicode"/>
                <a:cs typeface="Lucida Sans Unicode"/>
              </a:rPr>
              <a:t> </a:t>
            </a:r>
            <a:r>
              <a:rPr sz="1200" spc="-45" dirty="0">
                <a:latin typeface="Lucida Sans Unicode"/>
                <a:cs typeface="Lucida Sans Unicode"/>
              </a:rPr>
              <a:t>price/stock</a:t>
            </a:r>
            <a:r>
              <a:rPr sz="1200" spc="-50" dirty="0">
                <a:latin typeface="Lucida Sans Unicode"/>
                <a:cs typeface="Lucida Sans Unicode"/>
              </a:rPr>
              <a:t> </a:t>
            </a:r>
            <a:r>
              <a:rPr sz="1200" spc="-10" dirty="0">
                <a:latin typeface="Lucida Sans Unicode"/>
                <a:cs typeface="Lucida Sans Unicode"/>
              </a:rPr>
              <a:t>checks.</a:t>
            </a:r>
            <a:endParaRPr sz="1200" dirty="0">
              <a:latin typeface="Lucida Sans Unicode"/>
              <a:cs typeface="Lucida Sans Unicod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7298" y="1736546"/>
            <a:ext cx="3989704"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50" dirty="0">
                <a:latin typeface="Arial Black"/>
                <a:cs typeface="Arial Black"/>
              </a:rPr>
              <a:t>3</a:t>
            </a:r>
            <a:endParaRPr sz="2450">
              <a:latin typeface="Arial Black"/>
              <a:cs typeface="Arial Black"/>
            </a:endParaRPr>
          </a:p>
          <a:p>
            <a:pPr marL="12700">
              <a:lnSpc>
                <a:spcPct val="100000"/>
              </a:lnSpc>
              <a:spcBef>
                <a:spcPts val="2045"/>
              </a:spcBef>
            </a:pPr>
            <a:r>
              <a:rPr sz="2450" spc="-120" dirty="0">
                <a:latin typeface="Arial Black"/>
                <a:cs typeface="Arial Black"/>
              </a:rPr>
              <a:t>Functional</a:t>
            </a:r>
            <a:r>
              <a:rPr sz="2450" spc="-110" dirty="0">
                <a:latin typeface="Arial Black"/>
                <a:cs typeface="Arial Black"/>
              </a:rPr>
              <a:t> </a:t>
            </a:r>
            <a:r>
              <a:rPr sz="2450" spc="-95" dirty="0">
                <a:latin typeface="Arial Black"/>
                <a:cs typeface="Arial Black"/>
              </a:rPr>
              <a:t>Requirements</a:t>
            </a:r>
            <a:endParaRPr sz="2450">
              <a:latin typeface="Arial Black"/>
              <a:cs typeface="Arial Black"/>
            </a:endParaRPr>
          </a:p>
        </p:txBody>
      </p:sp>
      <p:sp>
        <p:nvSpPr>
          <p:cNvPr id="8" name="object 8"/>
          <p:cNvSpPr txBox="1"/>
          <p:nvPr/>
        </p:nvSpPr>
        <p:spPr>
          <a:xfrm>
            <a:off x="3199092" y="3900828"/>
            <a:ext cx="3194050" cy="196849"/>
          </a:xfrm>
          <a:prstGeom prst="rect">
            <a:avLst/>
          </a:prstGeom>
        </p:spPr>
        <p:txBody>
          <a:bodyPr vert="horz" wrap="square" lIns="0" tIns="12065" rIns="0" bIns="0" rtlCol="0">
            <a:spAutoFit/>
          </a:bodyPr>
          <a:lstStyle/>
          <a:p>
            <a:pPr marL="12700" marR="5080">
              <a:lnSpc>
                <a:spcPct val="100000"/>
              </a:lnSpc>
              <a:spcBef>
                <a:spcPts val="95"/>
              </a:spcBef>
            </a:pPr>
            <a:r>
              <a:rPr sz="1200" spc="-25" dirty="0">
                <a:latin typeface="Lucida Sans Unicode"/>
                <a:cs typeface="Lucida Sans Unicode"/>
              </a:rPr>
              <a:t>.</a:t>
            </a:r>
            <a:endParaRPr sz="1200" dirty="0">
              <a:latin typeface="Lucida Sans Unicode"/>
              <a:cs typeface="Lucida Sans Unicode"/>
            </a:endParaRPr>
          </a:p>
        </p:txBody>
      </p:sp>
      <p:sp>
        <p:nvSpPr>
          <p:cNvPr id="17" name="object 17"/>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3</a:t>
            </a:r>
          </a:p>
        </p:txBody>
      </p:sp>
      <p:sp>
        <p:nvSpPr>
          <p:cNvPr id="19" name="TextBox 18">
            <a:extLst>
              <a:ext uri="{FF2B5EF4-FFF2-40B4-BE49-F238E27FC236}">
                <a16:creationId xmlns:a16="http://schemas.microsoft.com/office/drawing/2014/main" id="{A82FBCCD-45D0-ECEB-5CE4-60ECD911B160}"/>
              </a:ext>
            </a:extLst>
          </p:cNvPr>
          <p:cNvSpPr txBox="1"/>
          <p:nvPr/>
        </p:nvSpPr>
        <p:spPr>
          <a:xfrm>
            <a:off x="757960" y="3060700"/>
            <a:ext cx="6243752" cy="3693319"/>
          </a:xfrm>
          <a:prstGeom prst="rect">
            <a:avLst/>
          </a:prstGeom>
          <a:noFill/>
        </p:spPr>
        <p:txBody>
          <a:bodyPr wrap="square">
            <a:spAutoFit/>
          </a:bodyPr>
          <a:lstStyle/>
          <a:p>
            <a:r>
              <a:rPr lang="en-US" dirty="0"/>
              <a:t>The core functionality includes the essential CRUD (Create, Read, Update) operations:</a:t>
            </a:r>
          </a:p>
          <a:p>
            <a:endParaRPr lang="en-US" dirty="0"/>
          </a:p>
          <a:p>
            <a:r>
              <a:rPr lang="en-US" dirty="0"/>
              <a:t> Product Creation: Input new products and automatically generate unique item codes. Inventory Viewing: Display a formatted list of all current products.</a:t>
            </a:r>
          </a:p>
          <a:p>
            <a:endParaRPr lang="en-US" dirty="0"/>
          </a:p>
          <a:p>
            <a:r>
              <a:rPr lang="en-US" dirty="0"/>
              <a:t> Product Update: Modify the price and stock level of existing products by item code. Reporting: Identify and report all products that fall below a pre-defined low stock threshold.</a:t>
            </a:r>
          </a:p>
          <a:p>
            <a:endParaRPr lang="en-US" dirty="0"/>
          </a:p>
          <a:p>
            <a:r>
              <a:rPr lang="en-US" dirty="0"/>
              <a:t>Data Persistence: Load and save inventory data to a local JSON file across sessions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87298" y="1736546"/>
            <a:ext cx="4697730"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50" dirty="0">
                <a:latin typeface="Arial Black"/>
                <a:cs typeface="Arial Black"/>
              </a:rPr>
              <a:t>4</a:t>
            </a:r>
            <a:endParaRPr sz="2450">
              <a:latin typeface="Arial Black"/>
              <a:cs typeface="Arial Black"/>
            </a:endParaRPr>
          </a:p>
          <a:p>
            <a:pPr marL="12700">
              <a:lnSpc>
                <a:spcPct val="100000"/>
              </a:lnSpc>
              <a:spcBef>
                <a:spcPts val="2045"/>
              </a:spcBef>
            </a:pPr>
            <a:r>
              <a:rPr sz="2450" spc="-85" dirty="0">
                <a:latin typeface="Arial Black"/>
                <a:cs typeface="Arial Black"/>
              </a:rPr>
              <a:t>Non-</a:t>
            </a:r>
            <a:r>
              <a:rPr sz="2450" spc="-70" dirty="0">
                <a:latin typeface="Arial Black"/>
                <a:cs typeface="Arial Black"/>
              </a:rPr>
              <a:t>functional</a:t>
            </a:r>
            <a:r>
              <a:rPr sz="2450" spc="-120" dirty="0">
                <a:latin typeface="Arial Black"/>
                <a:cs typeface="Arial Black"/>
              </a:rPr>
              <a:t> </a:t>
            </a:r>
            <a:r>
              <a:rPr sz="2450" spc="-100" dirty="0">
                <a:latin typeface="Arial Black"/>
                <a:cs typeface="Arial Black"/>
              </a:rPr>
              <a:t>Requirements</a:t>
            </a:r>
            <a:endParaRPr sz="2450">
              <a:latin typeface="Arial Black"/>
              <a:cs typeface="Arial Black"/>
            </a:endParaRPr>
          </a:p>
        </p:txBody>
      </p:sp>
      <p:sp>
        <p:nvSpPr>
          <p:cNvPr id="21" name="object 21"/>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4</a:t>
            </a:r>
          </a:p>
        </p:txBody>
      </p:sp>
      <p:sp>
        <p:nvSpPr>
          <p:cNvPr id="23" name="TextBox 22">
            <a:extLst>
              <a:ext uri="{FF2B5EF4-FFF2-40B4-BE49-F238E27FC236}">
                <a16:creationId xmlns:a16="http://schemas.microsoft.com/office/drawing/2014/main" id="{CEC07384-8EE6-681E-4038-0517011C4459}"/>
              </a:ext>
            </a:extLst>
          </p:cNvPr>
          <p:cNvSpPr txBox="1"/>
          <p:nvPr/>
        </p:nvSpPr>
        <p:spPr>
          <a:xfrm>
            <a:off x="730250" y="3060700"/>
            <a:ext cx="5638800" cy="3693319"/>
          </a:xfrm>
          <a:prstGeom prst="rect">
            <a:avLst/>
          </a:prstGeom>
          <a:noFill/>
        </p:spPr>
        <p:txBody>
          <a:bodyPr wrap="square">
            <a:spAutoFit/>
          </a:bodyPr>
          <a:lstStyle/>
          <a:p>
            <a:r>
              <a:rPr lang="en-US" dirty="0"/>
              <a:t>The system prioritizes quality attributes such as:</a:t>
            </a:r>
          </a:p>
          <a:p>
            <a:endParaRPr lang="en-US" dirty="0"/>
          </a:p>
          <a:p>
            <a:r>
              <a:rPr lang="en-US" dirty="0"/>
              <a:t> </a:t>
            </a:r>
            <a:r>
              <a:rPr lang="en-US" b="1" dirty="0"/>
              <a:t>Usability:</a:t>
            </a:r>
            <a:r>
              <a:rPr lang="en-US" dirty="0"/>
              <a:t> Operable via a simple, menu-driven command-line interface.</a:t>
            </a:r>
          </a:p>
          <a:p>
            <a:endParaRPr lang="en-US" dirty="0"/>
          </a:p>
          <a:p>
            <a:r>
              <a:rPr lang="en-US" dirty="0"/>
              <a:t> </a:t>
            </a:r>
            <a:r>
              <a:rPr lang="en-US" b="1" dirty="0"/>
              <a:t>Reliability:</a:t>
            </a:r>
            <a:r>
              <a:rPr lang="en-US" dirty="0"/>
              <a:t> Must handle corrupted or missing data files gracefully without crashing.</a:t>
            </a:r>
          </a:p>
          <a:p>
            <a:endParaRPr lang="en-US" dirty="0"/>
          </a:p>
          <a:p>
            <a:r>
              <a:rPr lang="en-US" dirty="0"/>
              <a:t> </a:t>
            </a:r>
            <a:r>
              <a:rPr lang="en-US" b="1" dirty="0"/>
              <a:t>Maintainability:</a:t>
            </a:r>
            <a:r>
              <a:rPr lang="en-US" dirty="0"/>
              <a:t> Code is well-organized using functions and classes. </a:t>
            </a:r>
          </a:p>
          <a:p>
            <a:endParaRPr lang="en-US" dirty="0"/>
          </a:p>
          <a:p>
            <a:r>
              <a:rPr lang="en-US" b="1" dirty="0"/>
              <a:t>Security (Basic): </a:t>
            </a:r>
            <a:r>
              <a:rPr lang="en-US" dirty="0"/>
              <a:t>Includes input validation to prevent unauthorized data types or negative values</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5</a:t>
            </a:r>
          </a:p>
        </p:txBody>
      </p:sp>
      <p:sp>
        <p:nvSpPr>
          <p:cNvPr id="2" name="object 2"/>
          <p:cNvSpPr txBox="1"/>
          <p:nvPr/>
        </p:nvSpPr>
        <p:spPr>
          <a:xfrm>
            <a:off x="887298" y="1736546"/>
            <a:ext cx="3217545"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50" dirty="0">
                <a:latin typeface="Arial Black"/>
                <a:cs typeface="Arial Black"/>
              </a:rPr>
              <a:t>5</a:t>
            </a:r>
            <a:endParaRPr sz="2450">
              <a:latin typeface="Arial Black"/>
              <a:cs typeface="Arial Black"/>
            </a:endParaRPr>
          </a:p>
          <a:p>
            <a:pPr marL="12700">
              <a:lnSpc>
                <a:spcPct val="100000"/>
              </a:lnSpc>
              <a:spcBef>
                <a:spcPts val="2045"/>
              </a:spcBef>
            </a:pPr>
            <a:r>
              <a:rPr sz="2450" spc="-170" dirty="0">
                <a:latin typeface="Arial Black"/>
                <a:cs typeface="Arial Black"/>
              </a:rPr>
              <a:t>System</a:t>
            </a:r>
            <a:r>
              <a:rPr sz="2450" spc="-160" dirty="0">
                <a:latin typeface="Arial Black"/>
                <a:cs typeface="Arial Black"/>
              </a:rPr>
              <a:t> </a:t>
            </a:r>
            <a:r>
              <a:rPr sz="2450" spc="-114" dirty="0">
                <a:latin typeface="Arial Black"/>
                <a:cs typeface="Arial Black"/>
              </a:rPr>
              <a:t>Architecture</a:t>
            </a:r>
            <a:endParaRPr sz="2450">
              <a:latin typeface="Arial Black"/>
              <a:cs typeface="Arial Black"/>
            </a:endParaRPr>
          </a:p>
        </p:txBody>
      </p:sp>
      <p:sp>
        <p:nvSpPr>
          <p:cNvPr id="3" name="object 3"/>
          <p:cNvSpPr txBox="1"/>
          <p:nvPr/>
        </p:nvSpPr>
        <p:spPr>
          <a:xfrm>
            <a:off x="887298" y="3241838"/>
            <a:ext cx="5785485" cy="2146100"/>
          </a:xfrm>
          <a:prstGeom prst="rect">
            <a:avLst/>
          </a:prstGeom>
        </p:spPr>
        <p:txBody>
          <a:bodyPr vert="horz" wrap="square" lIns="0" tIns="12065" rIns="0" bIns="0" rtlCol="0">
            <a:spAutoFit/>
          </a:bodyPr>
          <a:lstStyle/>
          <a:p>
            <a:pPr marL="12700" marR="5080">
              <a:lnSpc>
                <a:spcPct val="100000"/>
              </a:lnSpc>
              <a:spcBef>
                <a:spcPts val="95"/>
              </a:spcBef>
            </a:pPr>
            <a:r>
              <a:rPr lang="en-IN" sz="1200" dirty="0"/>
              <a:t>The BIPC uses a simple, three-tiered structure:</a:t>
            </a:r>
          </a:p>
          <a:p>
            <a:pPr marL="12700" marR="5080">
              <a:lnSpc>
                <a:spcPct val="100000"/>
              </a:lnSpc>
              <a:spcBef>
                <a:spcPts val="95"/>
              </a:spcBef>
            </a:pPr>
            <a:endParaRPr lang="en-IN" sz="1200" dirty="0"/>
          </a:p>
          <a:p>
            <a:pPr marL="12700" marR="5080">
              <a:lnSpc>
                <a:spcPct val="100000"/>
              </a:lnSpc>
              <a:spcBef>
                <a:spcPts val="95"/>
              </a:spcBef>
            </a:pPr>
            <a:r>
              <a:rPr lang="en-IN" sz="1200" dirty="0"/>
              <a:t>1</a:t>
            </a:r>
            <a:r>
              <a:rPr lang="en-IN" sz="1200" b="1" dirty="0"/>
              <a:t>. Data Layer</a:t>
            </a:r>
            <a:r>
              <a:rPr lang="en-IN" sz="1200" dirty="0"/>
              <a:t>: Local </a:t>
            </a:r>
            <a:r>
              <a:rPr lang="en-IN" sz="1200" dirty="0" err="1"/>
              <a:t>inventory_data.json</a:t>
            </a:r>
            <a:r>
              <a:rPr lang="en-IN" sz="1200" dirty="0"/>
              <a:t> file for persistence. </a:t>
            </a:r>
          </a:p>
          <a:p>
            <a:pPr marL="12700" marR="5080">
              <a:lnSpc>
                <a:spcPct val="100000"/>
              </a:lnSpc>
              <a:spcBef>
                <a:spcPts val="95"/>
              </a:spcBef>
            </a:pPr>
            <a:endParaRPr lang="en-IN" sz="1200" dirty="0"/>
          </a:p>
          <a:p>
            <a:pPr marL="12700" marR="5080">
              <a:lnSpc>
                <a:spcPct val="100000"/>
              </a:lnSpc>
              <a:spcBef>
                <a:spcPts val="95"/>
              </a:spcBef>
            </a:pPr>
            <a:r>
              <a:rPr lang="en-IN" sz="1200" dirty="0"/>
              <a:t>2. </a:t>
            </a:r>
            <a:r>
              <a:rPr lang="en-IN" sz="1200" b="1" dirty="0"/>
              <a:t>Business Logic Layer</a:t>
            </a:r>
            <a:r>
              <a:rPr lang="en-IN" sz="1200" dirty="0"/>
              <a:t>: Python's Product class and core functions</a:t>
            </a:r>
          </a:p>
          <a:p>
            <a:pPr marL="12700" marR="5080">
              <a:lnSpc>
                <a:spcPct val="100000"/>
              </a:lnSpc>
              <a:spcBef>
                <a:spcPts val="95"/>
              </a:spcBef>
            </a:pPr>
            <a:r>
              <a:rPr lang="en-IN" sz="1200" dirty="0"/>
              <a:t> (e.g., </a:t>
            </a:r>
            <a:r>
              <a:rPr lang="en-IN" sz="1200" dirty="0" err="1"/>
              <a:t>generate_item_code</a:t>
            </a:r>
            <a:r>
              <a:rPr lang="en-IN" sz="1200" dirty="0"/>
              <a:t> ).</a:t>
            </a:r>
          </a:p>
          <a:p>
            <a:pPr marL="12700" marR="5080">
              <a:lnSpc>
                <a:spcPct val="100000"/>
              </a:lnSpc>
              <a:spcBef>
                <a:spcPts val="95"/>
              </a:spcBef>
            </a:pPr>
            <a:endParaRPr lang="en-IN" sz="1200" dirty="0"/>
          </a:p>
          <a:p>
            <a:pPr marL="12700" marR="5080">
              <a:lnSpc>
                <a:spcPct val="100000"/>
              </a:lnSpc>
              <a:spcBef>
                <a:spcPts val="95"/>
              </a:spcBef>
            </a:pPr>
            <a:r>
              <a:rPr lang="en-IN" sz="1200" dirty="0"/>
              <a:t>3. </a:t>
            </a:r>
            <a:r>
              <a:rPr lang="en-IN" sz="1200" b="1" dirty="0"/>
              <a:t>Presentation Layer</a:t>
            </a:r>
            <a:r>
              <a:rPr lang="en-IN" sz="1200" dirty="0"/>
              <a:t>: The main menu and I/O handled via the Command-Line Interface (CLI). </a:t>
            </a:r>
          </a:p>
          <a:p>
            <a:pPr marL="12700" marR="5080">
              <a:lnSpc>
                <a:spcPct val="100000"/>
              </a:lnSpc>
              <a:spcBef>
                <a:spcPts val="95"/>
              </a:spcBef>
            </a:pPr>
            <a:endParaRPr lang="en-IN" sz="1200" dirty="0"/>
          </a:p>
          <a:p>
            <a:pPr marL="12700" marR="5080">
              <a:lnSpc>
                <a:spcPct val="100000"/>
              </a:lnSpc>
              <a:spcBef>
                <a:spcPts val="95"/>
              </a:spcBef>
            </a:pPr>
            <a:r>
              <a:rPr lang="en-IN" sz="1200" b="1" dirty="0"/>
              <a:t>Technology Stack: </a:t>
            </a:r>
            <a:r>
              <a:rPr lang="en-IN" sz="1200" dirty="0"/>
              <a:t>Python 3.x for Core Logic, JSON for Data Persistence</a:t>
            </a:r>
            <a:endParaRPr sz="1200" dirty="0">
              <a:latin typeface="Lucida Sans Unicode"/>
              <a:cs typeface="Lucida Sans Uni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6</a:t>
            </a:r>
          </a:p>
        </p:txBody>
      </p:sp>
      <p:sp>
        <p:nvSpPr>
          <p:cNvPr id="2" name="object 2"/>
          <p:cNvSpPr txBox="1">
            <a:spLocks noGrp="1"/>
          </p:cNvSpPr>
          <p:nvPr>
            <p:ph type="title"/>
          </p:nvPr>
        </p:nvSpPr>
        <p:spPr>
          <a:xfrm>
            <a:off x="887298" y="1736546"/>
            <a:ext cx="3777615" cy="1403589"/>
          </a:xfrm>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50" dirty="0"/>
              <a:t>6</a:t>
            </a:r>
          </a:p>
          <a:p>
            <a:pPr marL="12700">
              <a:lnSpc>
                <a:spcPct val="100000"/>
              </a:lnSpc>
              <a:spcBef>
                <a:spcPts val="2045"/>
              </a:spcBef>
            </a:pPr>
            <a:r>
              <a:rPr lang="en-IN" dirty="0"/>
              <a:t>Design Decisions &amp; Rationale</a:t>
            </a:r>
            <a:endParaRPr spc="-85" dirty="0"/>
          </a:p>
        </p:txBody>
      </p:sp>
      <p:sp>
        <p:nvSpPr>
          <p:cNvPr id="8" name="TextBox 7">
            <a:extLst>
              <a:ext uri="{FF2B5EF4-FFF2-40B4-BE49-F238E27FC236}">
                <a16:creationId xmlns:a16="http://schemas.microsoft.com/office/drawing/2014/main" id="{BA50FEF4-EFE7-8A5F-6D50-F1E22E063A08}"/>
              </a:ext>
            </a:extLst>
          </p:cNvPr>
          <p:cNvSpPr txBox="1"/>
          <p:nvPr/>
        </p:nvSpPr>
        <p:spPr>
          <a:xfrm>
            <a:off x="806450" y="3360271"/>
            <a:ext cx="6324600" cy="4247317"/>
          </a:xfrm>
          <a:prstGeom prst="rect">
            <a:avLst/>
          </a:prstGeom>
          <a:noFill/>
        </p:spPr>
        <p:txBody>
          <a:bodyPr wrap="square">
            <a:spAutoFit/>
          </a:bodyPr>
          <a:lstStyle/>
          <a:p>
            <a:r>
              <a:rPr lang="en-US" dirty="0"/>
              <a:t>Key design choices include: </a:t>
            </a:r>
          </a:p>
          <a:p>
            <a:endParaRPr lang="en-US" dirty="0"/>
          </a:p>
          <a:p>
            <a:r>
              <a:rPr lang="en-US" b="1" dirty="0"/>
              <a:t>Use of Product Class</a:t>
            </a:r>
            <a:r>
              <a:rPr lang="en-US" dirty="0"/>
              <a:t>: Ensures data integrity, encapsulation, and modularity. </a:t>
            </a:r>
          </a:p>
          <a:p>
            <a:endParaRPr lang="en-US" dirty="0"/>
          </a:p>
          <a:p>
            <a:r>
              <a:rPr lang="en-US" b="1" dirty="0"/>
              <a:t>JSON for Persistence</a:t>
            </a:r>
            <a:r>
              <a:rPr lang="en-US" dirty="0"/>
              <a:t>: Chosen for its simplicity, readability, and native Python support, avoiding the need for a full database.</a:t>
            </a:r>
          </a:p>
          <a:p>
            <a:r>
              <a:rPr lang="en-US" dirty="0"/>
              <a:t> </a:t>
            </a:r>
          </a:p>
          <a:p>
            <a:r>
              <a:rPr lang="en-US" b="1" dirty="0"/>
              <a:t>Auto-Generated Item Codes</a:t>
            </a:r>
            <a:r>
              <a:rPr lang="en-US" dirty="0"/>
              <a:t>: Guarantees uniqueness and simplifies product lookup.</a:t>
            </a:r>
          </a:p>
          <a:p>
            <a:endParaRPr lang="en-US" dirty="0"/>
          </a:p>
          <a:p>
            <a:r>
              <a:rPr lang="en-US" b="1" dirty="0"/>
              <a:t>Input Validation Loops</a:t>
            </a:r>
            <a:r>
              <a:rPr lang="en-US" dirty="0"/>
              <a:t>: Provides robustness by preventing the acceptance of invalid data (non numbers, negative values)</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10</a:t>
            </a:r>
          </a:p>
        </p:txBody>
      </p:sp>
      <p:sp>
        <p:nvSpPr>
          <p:cNvPr id="2" name="object 2"/>
          <p:cNvSpPr txBox="1">
            <a:spLocks noGrp="1"/>
          </p:cNvSpPr>
          <p:nvPr>
            <p:ph type="title"/>
          </p:nvPr>
        </p:nvSpPr>
        <p:spPr>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50" dirty="0"/>
              <a:t>8</a:t>
            </a:r>
          </a:p>
          <a:p>
            <a:pPr marL="12700">
              <a:lnSpc>
                <a:spcPct val="100000"/>
              </a:lnSpc>
              <a:spcBef>
                <a:spcPts val="2045"/>
              </a:spcBef>
            </a:pPr>
            <a:r>
              <a:rPr spc="-65" dirty="0"/>
              <a:t>Implementation</a:t>
            </a:r>
            <a:r>
              <a:rPr spc="-110" dirty="0"/>
              <a:t> </a:t>
            </a:r>
            <a:r>
              <a:rPr spc="-105" dirty="0"/>
              <a:t>Details</a:t>
            </a:r>
          </a:p>
        </p:txBody>
      </p:sp>
      <p:sp>
        <p:nvSpPr>
          <p:cNvPr id="3" name="object 3"/>
          <p:cNvSpPr txBox="1"/>
          <p:nvPr/>
        </p:nvSpPr>
        <p:spPr>
          <a:xfrm>
            <a:off x="887298" y="3242587"/>
            <a:ext cx="5940425" cy="873957"/>
          </a:xfrm>
          <a:prstGeom prst="rect">
            <a:avLst/>
          </a:prstGeom>
        </p:spPr>
        <p:txBody>
          <a:bodyPr vert="horz" wrap="square" lIns="0" tIns="12065" rIns="0" bIns="0" rtlCol="0">
            <a:spAutoFit/>
          </a:bodyPr>
          <a:lstStyle/>
          <a:p>
            <a:pPr marL="12700">
              <a:lnSpc>
                <a:spcPct val="100000"/>
              </a:lnSpc>
              <a:spcBef>
                <a:spcPts val="95"/>
              </a:spcBef>
            </a:pPr>
            <a:r>
              <a:rPr lang="en-US" sz="1400" dirty="0"/>
              <a:t>The application is implemented in a single Python script. Key details include defining constants for configuration, using the </a:t>
            </a:r>
            <a:r>
              <a:rPr lang="en-US" sz="1400" dirty="0" err="1"/>
              <a:t>Product.to_dict</a:t>
            </a:r>
            <a:r>
              <a:rPr lang="en-US" sz="1400" dirty="0"/>
              <a:t>() method for efficient JSON serialization, and utilizing string formatting to ensure a neatly organized and readable CLI output</a:t>
            </a:r>
            <a:endParaRPr sz="1400" dirty="0">
              <a:latin typeface="Lucida Sans Unicode"/>
              <a:cs typeface="Lucida Sans Unicod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11</a:t>
            </a:r>
          </a:p>
        </p:txBody>
      </p:sp>
      <p:sp>
        <p:nvSpPr>
          <p:cNvPr id="2" name="object 2"/>
          <p:cNvSpPr txBox="1">
            <a:spLocks noGrp="1"/>
          </p:cNvSpPr>
          <p:nvPr>
            <p:ph type="title"/>
          </p:nvPr>
        </p:nvSpPr>
        <p:spPr>
          <a:xfrm>
            <a:off x="349250" y="66080"/>
            <a:ext cx="3777615" cy="1036319"/>
          </a:xfrm>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50" dirty="0"/>
              <a:t>9</a:t>
            </a:r>
          </a:p>
          <a:p>
            <a:pPr marL="12700">
              <a:lnSpc>
                <a:spcPct val="100000"/>
              </a:lnSpc>
              <a:spcBef>
                <a:spcPts val="2045"/>
              </a:spcBef>
            </a:pPr>
            <a:r>
              <a:rPr spc="-180" dirty="0"/>
              <a:t>Screenshots</a:t>
            </a:r>
            <a:r>
              <a:rPr spc="-145" dirty="0"/>
              <a:t> </a:t>
            </a:r>
            <a:r>
              <a:rPr spc="340" dirty="0"/>
              <a:t>/</a:t>
            </a:r>
            <a:r>
              <a:rPr spc="-145" dirty="0"/>
              <a:t> </a:t>
            </a:r>
            <a:r>
              <a:rPr spc="-130" dirty="0"/>
              <a:t>Results</a:t>
            </a:r>
          </a:p>
        </p:txBody>
      </p:sp>
      <p:pic>
        <p:nvPicPr>
          <p:cNvPr id="2050" name="Picture 2" descr="image">
            <a:extLst>
              <a:ext uri="{FF2B5EF4-FFF2-40B4-BE49-F238E27FC236}">
                <a16:creationId xmlns:a16="http://schemas.microsoft.com/office/drawing/2014/main" id="{C47DB831-DE55-D6DD-EE6D-FBD650B310D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0490" y="1216182"/>
            <a:ext cx="4235133" cy="412035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a:extLst>
              <a:ext uri="{FF2B5EF4-FFF2-40B4-BE49-F238E27FC236}">
                <a16:creationId xmlns:a16="http://schemas.microsoft.com/office/drawing/2014/main" id="{B2F39A78-7F64-A222-E01D-397B12BC7A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0" y="5450323"/>
            <a:ext cx="4235133" cy="41386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12</a:t>
            </a:r>
          </a:p>
        </p:txBody>
      </p:sp>
      <p:sp>
        <p:nvSpPr>
          <p:cNvPr id="2" name="object 2"/>
          <p:cNvSpPr txBox="1">
            <a:spLocks noGrp="1"/>
          </p:cNvSpPr>
          <p:nvPr>
            <p:ph type="title"/>
          </p:nvPr>
        </p:nvSpPr>
        <p:spPr>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25" dirty="0"/>
              <a:t>10</a:t>
            </a:r>
          </a:p>
          <a:p>
            <a:pPr marL="12700">
              <a:lnSpc>
                <a:spcPct val="100000"/>
              </a:lnSpc>
              <a:spcBef>
                <a:spcPts val="2045"/>
              </a:spcBef>
            </a:pPr>
            <a:r>
              <a:rPr spc="-170" dirty="0"/>
              <a:t>Testing</a:t>
            </a:r>
            <a:r>
              <a:rPr spc="-165" dirty="0"/>
              <a:t> </a:t>
            </a:r>
            <a:r>
              <a:rPr spc="-110" dirty="0"/>
              <a:t>Approach</a:t>
            </a:r>
          </a:p>
        </p:txBody>
      </p:sp>
      <p:sp>
        <p:nvSpPr>
          <p:cNvPr id="6" name="Text Placeholder 5">
            <a:extLst>
              <a:ext uri="{FF2B5EF4-FFF2-40B4-BE49-F238E27FC236}">
                <a16:creationId xmlns:a16="http://schemas.microsoft.com/office/drawing/2014/main" id="{2E349E75-FF37-89B8-F02B-FCDECEAC3210}"/>
              </a:ext>
            </a:extLst>
          </p:cNvPr>
          <p:cNvSpPr>
            <a:spLocks noGrp="1"/>
          </p:cNvSpPr>
          <p:nvPr>
            <p:ph type="body" idx="1"/>
          </p:nvPr>
        </p:nvSpPr>
        <p:spPr>
          <a:xfrm>
            <a:off x="887298" y="3242587"/>
            <a:ext cx="6376670" cy="1331134"/>
          </a:xfrm>
        </p:spPr>
        <p:txBody>
          <a:bodyPr/>
          <a:lstStyle/>
          <a:p>
            <a:pPr marL="12700" marR="596265">
              <a:lnSpc>
                <a:spcPct val="100000"/>
              </a:lnSpc>
              <a:spcBef>
                <a:spcPts val="95"/>
              </a:spcBef>
            </a:pPr>
            <a:r>
              <a:rPr lang="en-US" dirty="0"/>
              <a:t>The system was tested using both:</a:t>
            </a:r>
          </a:p>
          <a:p>
            <a:pPr marL="12700" marR="596265">
              <a:lnSpc>
                <a:spcPct val="100000"/>
              </a:lnSpc>
              <a:spcBef>
                <a:spcPts val="95"/>
              </a:spcBef>
            </a:pPr>
            <a:r>
              <a:rPr lang="en-US" b="1" dirty="0"/>
              <a:t> Unit Testing</a:t>
            </a:r>
            <a:r>
              <a:rPr lang="en-US" dirty="0"/>
              <a:t>: Individual functions (e.g., code generation, input validation) were tested to verify correct output and logic.</a:t>
            </a:r>
          </a:p>
          <a:p>
            <a:pPr marL="12700" marR="596265">
              <a:lnSpc>
                <a:spcPct val="100000"/>
              </a:lnSpc>
              <a:spcBef>
                <a:spcPts val="95"/>
              </a:spcBef>
            </a:pPr>
            <a:endParaRPr lang="en-US" dirty="0"/>
          </a:p>
          <a:p>
            <a:pPr marL="12700" marR="596265">
              <a:lnSpc>
                <a:spcPct val="100000"/>
              </a:lnSpc>
              <a:spcBef>
                <a:spcPts val="95"/>
              </a:spcBef>
            </a:pPr>
            <a:r>
              <a:rPr lang="en-US" dirty="0"/>
              <a:t> </a:t>
            </a:r>
            <a:r>
              <a:rPr lang="en-US" b="1" dirty="0"/>
              <a:t>Integration Testing</a:t>
            </a:r>
            <a:r>
              <a:rPr lang="en-US" dirty="0"/>
              <a:t>: Full feature cycles (Add, Save, Exit, Reload, Update) were tested to ensure end-to-end data persistence and system stability</a:t>
            </a:r>
            <a:endParaRPr lang="en-US" spc="-10" dirty="0"/>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13</a:t>
            </a:r>
          </a:p>
        </p:txBody>
      </p:sp>
      <p:sp>
        <p:nvSpPr>
          <p:cNvPr id="2" name="object 2"/>
          <p:cNvSpPr txBox="1">
            <a:spLocks noGrp="1"/>
          </p:cNvSpPr>
          <p:nvPr>
            <p:ph type="title"/>
          </p:nvPr>
        </p:nvSpPr>
        <p:spPr>
          <a:xfrm>
            <a:off x="887298" y="1736546"/>
            <a:ext cx="2741930" cy="1036319"/>
          </a:xfrm>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25" dirty="0"/>
              <a:t>11</a:t>
            </a:r>
          </a:p>
          <a:p>
            <a:pPr marL="12700">
              <a:lnSpc>
                <a:spcPct val="100000"/>
              </a:lnSpc>
              <a:spcBef>
                <a:spcPts val="2045"/>
              </a:spcBef>
            </a:pPr>
            <a:r>
              <a:rPr spc="-140" dirty="0"/>
              <a:t>Challenges</a:t>
            </a:r>
            <a:r>
              <a:rPr spc="-120" dirty="0"/>
              <a:t> </a:t>
            </a:r>
            <a:r>
              <a:rPr spc="-185" dirty="0"/>
              <a:t>Faced</a:t>
            </a:r>
          </a:p>
        </p:txBody>
      </p:sp>
      <p:sp>
        <p:nvSpPr>
          <p:cNvPr id="3" name="object 3"/>
          <p:cNvSpPr txBox="1"/>
          <p:nvPr/>
        </p:nvSpPr>
        <p:spPr>
          <a:xfrm>
            <a:off x="973455" y="3213100"/>
            <a:ext cx="5609590" cy="2043508"/>
          </a:xfrm>
          <a:prstGeom prst="rect">
            <a:avLst/>
          </a:prstGeom>
        </p:spPr>
        <p:txBody>
          <a:bodyPr vert="horz" wrap="square" lIns="0" tIns="12065" rIns="0" bIns="0" rtlCol="0">
            <a:spAutoFit/>
          </a:bodyPr>
          <a:lstStyle/>
          <a:p>
            <a:pPr lvl="0"/>
            <a:r>
              <a:rPr lang="en-US" sz="1200" dirty="0"/>
              <a:t>1) JSON Type Casting: The most significant challenge was maintaining data type integrity during persistence. When data was loaded from the JSON file, numerical fields like price (float) and stock (integer) were often read as strings, leading to logical errors in comparisons (e.g., checking for low stock).</a:t>
            </a:r>
          </a:p>
          <a:p>
            <a:pPr lvl="0"/>
            <a:endParaRPr lang="en-IN" sz="1200" dirty="0"/>
          </a:p>
          <a:p>
            <a:pPr lvl="1"/>
            <a:r>
              <a:rPr lang="en-US" sz="1200" dirty="0"/>
              <a:t>2)Resolution: Explicit type casting (int() and float()) was enforced dur- </a:t>
            </a:r>
            <a:r>
              <a:rPr lang="en-US" sz="1200" dirty="0" err="1"/>
              <a:t>ing</a:t>
            </a:r>
            <a:r>
              <a:rPr lang="en-US" sz="1200" dirty="0"/>
              <a:t> the deserialization (loading) process in the </a:t>
            </a:r>
            <a:r>
              <a:rPr lang="en-US" sz="1200" dirty="0" err="1"/>
              <a:t>load_data</a:t>
            </a:r>
            <a:r>
              <a:rPr lang="en-US" sz="1200" dirty="0"/>
              <a:t>() method.</a:t>
            </a:r>
            <a:endParaRPr lang="en-IN" sz="1200" dirty="0"/>
          </a:p>
          <a:p>
            <a:pPr lvl="0"/>
            <a:r>
              <a:rPr lang="en-US" sz="1200" dirty="0"/>
              <a:t>Input Validation Loops: Implementing user-friendly input validation (NFR1) required robust while loops and nested try-except blocks to catch errors and prompt the user to re-enter data without crashing the application. This required careful design to maintain  (Usability).</a:t>
            </a:r>
            <a:endParaRPr lang="en-IN"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14</a:t>
            </a:r>
          </a:p>
        </p:txBody>
      </p:sp>
      <p:sp>
        <p:nvSpPr>
          <p:cNvPr id="2" name="object 2"/>
          <p:cNvSpPr txBox="1"/>
          <p:nvPr/>
        </p:nvSpPr>
        <p:spPr>
          <a:xfrm>
            <a:off x="887298" y="1736546"/>
            <a:ext cx="4351020"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25" dirty="0">
                <a:latin typeface="Arial Black"/>
                <a:cs typeface="Arial Black"/>
              </a:rPr>
              <a:t>12</a:t>
            </a:r>
            <a:endParaRPr sz="2450">
              <a:latin typeface="Arial Black"/>
              <a:cs typeface="Arial Black"/>
            </a:endParaRPr>
          </a:p>
          <a:p>
            <a:pPr marL="12700">
              <a:lnSpc>
                <a:spcPct val="100000"/>
              </a:lnSpc>
              <a:spcBef>
                <a:spcPts val="2045"/>
              </a:spcBef>
            </a:pPr>
            <a:r>
              <a:rPr sz="2450" spc="-105" dirty="0">
                <a:latin typeface="Arial Black"/>
                <a:cs typeface="Arial Black"/>
              </a:rPr>
              <a:t>Learnings</a:t>
            </a:r>
            <a:r>
              <a:rPr sz="2450" spc="-160" dirty="0">
                <a:latin typeface="Arial Black"/>
                <a:cs typeface="Arial Black"/>
              </a:rPr>
              <a:t> </a:t>
            </a:r>
            <a:r>
              <a:rPr sz="2450" spc="-330" dirty="0">
                <a:latin typeface="Arial Black"/>
                <a:cs typeface="Arial Black"/>
              </a:rPr>
              <a:t>&amp;</a:t>
            </a:r>
            <a:r>
              <a:rPr sz="2450" spc="-160" dirty="0">
                <a:latin typeface="Arial Black"/>
                <a:cs typeface="Arial Black"/>
              </a:rPr>
              <a:t> </a:t>
            </a:r>
            <a:r>
              <a:rPr sz="2450" spc="-250" dirty="0">
                <a:latin typeface="Arial Black"/>
                <a:cs typeface="Arial Black"/>
              </a:rPr>
              <a:t>Key</a:t>
            </a:r>
            <a:r>
              <a:rPr sz="2450" spc="-160" dirty="0">
                <a:latin typeface="Arial Black"/>
                <a:cs typeface="Arial Black"/>
              </a:rPr>
              <a:t> </a:t>
            </a:r>
            <a:r>
              <a:rPr sz="2450" spc="-195" dirty="0">
                <a:latin typeface="Arial Black"/>
                <a:cs typeface="Arial Black"/>
              </a:rPr>
              <a:t>Takeaways</a:t>
            </a:r>
            <a:endParaRPr sz="2450">
              <a:latin typeface="Arial Black"/>
              <a:cs typeface="Arial Black"/>
            </a:endParaRPr>
          </a:p>
        </p:txBody>
      </p:sp>
      <p:sp>
        <p:nvSpPr>
          <p:cNvPr id="3" name="object 3"/>
          <p:cNvSpPr txBox="1"/>
          <p:nvPr/>
        </p:nvSpPr>
        <p:spPr>
          <a:xfrm>
            <a:off x="1133868" y="3242587"/>
            <a:ext cx="5539105" cy="1928495"/>
          </a:xfrm>
          <a:prstGeom prst="rect">
            <a:avLst/>
          </a:prstGeom>
        </p:spPr>
        <p:txBody>
          <a:bodyPr vert="horz" wrap="square" lIns="0" tIns="12065" rIns="0" bIns="0" rtlCol="0">
            <a:spAutoFit/>
          </a:bodyPr>
          <a:lstStyle/>
          <a:p>
            <a:pPr marL="142875" marR="5080" indent="-130810" algn="just">
              <a:lnSpc>
                <a:spcPct val="100000"/>
              </a:lnSpc>
              <a:spcBef>
                <a:spcPts val="95"/>
              </a:spcBef>
              <a:buFont typeface="Lucida Sans Unicode"/>
              <a:buChar char="•"/>
              <a:tabLst>
                <a:tab pos="145415" algn="l"/>
              </a:tabLst>
            </a:pPr>
            <a:r>
              <a:rPr sz="1200" spc="-65" dirty="0">
                <a:latin typeface="Arial Black"/>
                <a:cs typeface="Arial Black"/>
              </a:rPr>
              <a:t>OOP</a:t>
            </a:r>
            <a:r>
              <a:rPr sz="1200" spc="-35" dirty="0">
                <a:latin typeface="Arial Black"/>
                <a:cs typeface="Arial Black"/>
              </a:rPr>
              <a:t> Value:</a:t>
            </a:r>
            <a:r>
              <a:rPr sz="1200" spc="105" dirty="0">
                <a:latin typeface="Arial Black"/>
                <a:cs typeface="Arial Black"/>
              </a:rPr>
              <a:t> </a:t>
            </a:r>
            <a:r>
              <a:rPr sz="1200" dirty="0">
                <a:latin typeface="Lucida Sans Unicode"/>
                <a:cs typeface="Lucida Sans Unicode"/>
              </a:rPr>
              <a:t>The</a:t>
            </a:r>
            <a:r>
              <a:rPr sz="1200" spc="-35" dirty="0">
                <a:latin typeface="Lucida Sans Unicode"/>
                <a:cs typeface="Lucida Sans Unicode"/>
              </a:rPr>
              <a:t> </a:t>
            </a:r>
            <a:r>
              <a:rPr sz="1200" dirty="0">
                <a:latin typeface="Lucida Sans Unicode"/>
                <a:cs typeface="Lucida Sans Unicode"/>
              </a:rPr>
              <a:t>use</a:t>
            </a:r>
            <a:r>
              <a:rPr sz="1200" spc="-30" dirty="0">
                <a:latin typeface="Lucida Sans Unicode"/>
                <a:cs typeface="Lucida Sans Unicode"/>
              </a:rPr>
              <a:t> </a:t>
            </a:r>
            <a:r>
              <a:rPr sz="1200" dirty="0">
                <a:latin typeface="Lucida Sans Unicode"/>
                <a:cs typeface="Lucida Sans Unicode"/>
              </a:rPr>
              <a:t>of</a:t>
            </a:r>
            <a:r>
              <a:rPr sz="1200" spc="-35" dirty="0">
                <a:latin typeface="Lucida Sans Unicode"/>
                <a:cs typeface="Lucida Sans Unicode"/>
              </a:rPr>
              <a:t> </a:t>
            </a:r>
            <a:r>
              <a:rPr sz="1200" spc="-20" dirty="0">
                <a:latin typeface="Lucida Sans Unicode"/>
                <a:cs typeface="Lucida Sans Unicode"/>
              </a:rPr>
              <a:t>classes</a:t>
            </a:r>
            <a:r>
              <a:rPr sz="1200" spc="-30" dirty="0">
                <a:latin typeface="Lucida Sans Unicode"/>
                <a:cs typeface="Lucida Sans Unicode"/>
              </a:rPr>
              <a:t> </a:t>
            </a:r>
            <a:r>
              <a:rPr sz="1200" spc="50" dirty="0">
                <a:latin typeface="Lucida Sans Unicode"/>
                <a:cs typeface="Lucida Sans Unicode"/>
              </a:rPr>
              <a:t>(</a:t>
            </a:r>
            <a:r>
              <a:rPr sz="1200" spc="50" dirty="0">
                <a:latin typeface="Times New Roman"/>
                <a:cs typeface="Times New Roman"/>
              </a:rPr>
              <a:t>Product</a:t>
            </a:r>
            <a:r>
              <a:rPr sz="1200" spc="50" dirty="0">
                <a:latin typeface="Lucida Sans Unicode"/>
                <a:cs typeface="Lucida Sans Unicode"/>
              </a:rPr>
              <a:t>,</a:t>
            </a:r>
            <a:r>
              <a:rPr sz="1200" spc="-10" dirty="0">
                <a:latin typeface="Lucida Sans Unicode"/>
                <a:cs typeface="Lucida Sans Unicode"/>
              </a:rPr>
              <a:t> </a:t>
            </a:r>
            <a:r>
              <a:rPr sz="1200" spc="50" dirty="0">
                <a:latin typeface="Times New Roman"/>
                <a:cs typeface="Times New Roman"/>
              </a:rPr>
              <a:t>InventoryManager</a:t>
            </a:r>
            <a:r>
              <a:rPr sz="1200" spc="50" dirty="0">
                <a:latin typeface="Lucida Sans Unicode"/>
                <a:cs typeface="Lucida Sans Unicode"/>
              </a:rPr>
              <a:t>)</a:t>
            </a:r>
            <a:r>
              <a:rPr sz="1200" spc="-35" dirty="0">
                <a:latin typeface="Lucida Sans Unicode"/>
                <a:cs typeface="Lucida Sans Unicode"/>
              </a:rPr>
              <a:t> </a:t>
            </a:r>
            <a:r>
              <a:rPr sz="1200" dirty="0">
                <a:latin typeface="Lucida Sans Unicode"/>
                <a:cs typeface="Lucida Sans Unicode"/>
              </a:rPr>
              <a:t>proved</a:t>
            </a:r>
            <a:r>
              <a:rPr sz="1200" spc="-30" dirty="0">
                <a:latin typeface="Lucida Sans Unicode"/>
                <a:cs typeface="Lucida Sans Unicode"/>
              </a:rPr>
              <a:t> </a:t>
            </a:r>
            <a:r>
              <a:rPr sz="1200" spc="-40" dirty="0">
                <a:latin typeface="Lucida Sans Unicode"/>
                <a:cs typeface="Lucida Sans Unicode"/>
              </a:rPr>
              <a:t>invalu- 	</a:t>
            </a:r>
            <a:r>
              <a:rPr sz="1200" spc="-25" dirty="0">
                <a:latin typeface="Lucida Sans Unicode"/>
                <a:cs typeface="Lucida Sans Unicode"/>
              </a:rPr>
              <a:t>able</a:t>
            </a:r>
            <a:r>
              <a:rPr sz="1200" spc="-50" dirty="0">
                <a:latin typeface="Lucida Sans Unicode"/>
                <a:cs typeface="Lucida Sans Unicode"/>
              </a:rPr>
              <a:t> </a:t>
            </a:r>
            <a:r>
              <a:rPr sz="1200" spc="-80" dirty="0">
                <a:latin typeface="Lucida Sans Unicode"/>
                <a:cs typeface="Lucida Sans Unicode"/>
              </a:rPr>
              <a:t>in</a:t>
            </a:r>
            <a:r>
              <a:rPr sz="1200" spc="-10" dirty="0">
                <a:latin typeface="Lucida Sans Unicode"/>
                <a:cs typeface="Lucida Sans Unicode"/>
              </a:rPr>
              <a:t> </a:t>
            </a:r>
            <a:r>
              <a:rPr sz="1200" spc="-25" dirty="0">
                <a:latin typeface="Lucida Sans Unicode"/>
                <a:cs typeface="Lucida Sans Unicode"/>
              </a:rPr>
              <a:t>separating</a:t>
            </a:r>
            <a:r>
              <a:rPr sz="1200" spc="-30" dirty="0">
                <a:latin typeface="Lucida Sans Unicode"/>
                <a:cs typeface="Lucida Sans Unicode"/>
              </a:rPr>
              <a:t> </a:t>
            </a:r>
            <a:r>
              <a:rPr sz="1200" spc="-20" dirty="0">
                <a:latin typeface="Lucida Sans Unicode"/>
                <a:cs typeface="Lucida Sans Unicode"/>
              </a:rPr>
              <a:t>data</a:t>
            </a:r>
            <a:r>
              <a:rPr sz="1200" spc="-30" dirty="0">
                <a:latin typeface="Lucida Sans Unicode"/>
                <a:cs typeface="Lucida Sans Unicode"/>
              </a:rPr>
              <a:t> </a:t>
            </a:r>
            <a:r>
              <a:rPr sz="1200" spc="-45" dirty="0">
                <a:latin typeface="Lucida Sans Unicode"/>
                <a:cs typeface="Lucida Sans Unicode"/>
              </a:rPr>
              <a:t>from</a:t>
            </a:r>
            <a:r>
              <a:rPr sz="1200" spc="-30" dirty="0">
                <a:latin typeface="Lucida Sans Unicode"/>
                <a:cs typeface="Lucida Sans Unicode"/>
              </a:rPr>
              <a:t> </a:t>
            </a:r>
            <a:r>
              <a:rPr sz="1200" spc="-55" dirty="0">
                <a:latin typeface="Lucida Sans Unicode"/>
                <a:cs typeface="Lucida Sans Unicode"/>
              </a:rPr>
              <a:t>logic,</a:t>
            </a:r>
            <a:r>
              <a:rPr sz="1200" spc="-20" dirty="0">
                <a:latin typeface="Lucida Sans Unicode"/>
                <a:cs typeface="Lucida Sans Unicode"/>
              </a:rPr>
              <a:t> </a:t>
            </a:r>
            <a:r>
              <a:rPr sz="1200" spc="-30" dirty="0">
                <a:latin typeface="Lucida Sans Unicode"/>
                <a:cs typeface="Lucida Sans Unicode"/>
              </a:rPr>
              <a:t>making </a:t>
            </a:r>
            <a:r>
              <a:rPr sz="1200" spc="-20" dirty="0">
                <a:latin typeface="Lucida Sans Unicode"/>
                <a:cs typeface="Lucida Sans Unicode"/>
              </a:rPr>
              <a:t>the</a:t>
            </a:r>
            <a:r>
              <a:rPr sz="1200" spc="-30" dirty="0">
                <a:latin typeface="Lucida Sans Unicode"/>
                <a:cs typeface="Lucida Sans Unicode"/>
              </a:rPr>
              <a:t> </a:t>
            </a:r>
            <a:r>
              <a:rPr sz="1200" spc="-40" dirty="0">
                <a:latin typeface="Lucida Sans Unicode"/>
                <a:cs typeface="Lucida Sans Unicode"/>
              </a:rPr>
              <a:t>code</a:t>
            </a:r>
            <a:r>
              <a:rPr sz="1200" spc="-30" dirty="0">
                <a:latin typeface="Lucida Sans Unicode"/>
                <a:cs typeface="Lucida Sans Unicode"/>
              </a:rPr>
              <a:t> </a:t>
            </a:r>
            <a:r>
              <a:rPr sz="1200" spc="-35" dirty="0">
                <a:latin typeface="Lucida Sans Unicode"/>
                <a:cs typeface="Lucida Sans Unicode"/>
              </a:rPr>
              <a:t>highly</a:t>
            </a:r>
            <a:r>
              <a:rPr sz="1200" spc="-30" dirty="0">
                <a:latin typeface="Lucida Sans Unicode"/>
                <a:cs typeface="Lucida Sans Unicode"/>
              </a:rPr>
              <a:t> maintainable </a:t>
            </a:r>
            <a:r>
              <a:rPr sz="1200" spc="-25" dirty="0">
                <a:latin typeface="Lucida Sans Unicode"/>
                <a:cs typeface="Lucida Sans Unicode"/>
              </a:rPr>
              <a:t>and 	</a:t>
            </a:r>
            <a:r>
              <a:rPr sz="1200" spc="-10" dirty="0">
                <a:latin typeface="Lucida Sans Unicode"/>
                <a:cs typeface="Lucida Sans Unicode"/>
              </a:rPr>
              <a:t>easy</a:t>
            </a:r>
            <a:r>
              <a:rPr sz="1200" spc="-75" dirty="0">
                <a:latin typeface="Lucida Sans Unicode"/>
                <a:cs typeface="Lucida Sans Unicode"/>
              </a:rPr>
              <a:t> </a:t>
            </a:r>
            <a:r>
              <a:rPr sz="1200" spc="-20" dirty="0">
                <a:latin typeface="Lucida Sans Unicode"/>
                <a:cs typeface="Lucida Sans Unicode"/>
              </a:rPr>
              <a:t>to</a:t>
            </a:r>
            <a:r>
              <a:rPr sz="1200" spc="-75" dirty="0">
                <a:latin typeface="Lucida Sans Unicode"/>
                <a:cs typeface="Lucida Sans Unicode"/>
              </a:rPr>
              <a:t> </a:t>
            </a:r>
            <a:r>
              <a:rPr sz="1200" spc="-10" dirty="0">
                <a:latin typeface="Lucida Sans Unicode"/>
                <a:cs typeface="Lucida Sans Unicode"/>
              </a:rPr>
              <a:t>debug.</a:t>
            </a:r>
            <a:endParaRPr sz="1200">
              <a:latin typeface="Lucida Sans Unicode"/>
              <a:cs typeface="Lucida Sans Unicode"/>
            </a:endParaRPr>
          </a:p>
          <a:p>
            <a:pPr marL="142875" marR="5080" indent="-130810" algn="just">
              <a:lnSpc>
                <a:spcPct val="100000"/>
              </a:lnSpc>
              <a:spcBef>
                <a:spcPts val="1010"/>
              </a:spcBef>
              <a:buFont typeface="Lucida Sans Unicode"/>
              <a:buChar char="•"/>
              <a:tabLst>
                <a:tab pos="145415" algn="l"/>
              </a:tabLst>
            </a:pPr>
            <a:r>
              <a:rPr sz="1200" spc="-95" dirty="0">
                <a:latin typeface="Arial Black"/>
                <a:cs typeface="Arial Black"/>
              </a:rPr>
              <a:t>Persistence</a:t>
            </a:r>
            <a:r>
              <a:rPr sz="1200" spc="-5" dirty="0">
                <a:latin typeface="Arial Black"/>
                <a:cs typeface="Arial Black"/>
              </a:rPr>
              <a:t> </a:t>
            </a:r>
            <a:r>
              <a:rPr sz="1200" spc="-30" dirty="0">
                <a:latin typeface="Arial Black"/>
                <a:cs typeface="Arial Black"/>
              </a:rPr>
              <a:t>Detail:</a:t>
            </a:r>
            <a:r>
              <a:rPr sz="1200" spc="50" dirty="0">
                <a:latin typeface="Arial Black"/>
                <a:cs typeface="Arial Black"/>
              </a:rPr>
              <a:t> </a:t>
            </a:r>
            <a:r>
              <a:rPr sz="1200" dirty="0">
                <a:latin typeface="Lucida Sans Unicode"/>
                <a:cs typeface="Lucida Sans Unicode"/>
              </a:rPr>
              <a:t>Managing</a:t>
            </a:r>
            <a:r>
              <a:rPr sz="1200" spc="-35" dirty="0">
                <a:latin typeface="Lucida Sans Unicode"/>
                <a:cs typeface="Lucida Sans Unicode"/>
              </a:rPr>
              <a:t> </a:t>
            </a:r>
            <a:r>
              <a:rPr sz="1200" spc="-20" dirty="0">
                <a:latin typeface="Lucida Sans Unicode"/>
                <a:cs typeface="Lucida Sans Unicode"/>
              </a:rPr>
              <a:t>persistence</a:t>
            </a:r>
            <a:r>
              <a:rPr sz="1200" spc="-30" dirty="0">
                <a:latin typeface="Lucida Sans Unicode"/>
                <a:cs typeface="Lucida Sans Unicode"/>
              </a:rPr>
              <a:t> </a:t>
            </a:r>
            <a:r>
              <a:rPr sz="1200" dirty="0">
                <a:latin typeface="Lucida Sans Unicode"/>
                <a:cs typeface="Lucida Sans Unicode"/>
              </a:rPr>
              <a:t>in</a:t>
            </a:r>
            <a:r>
              <a:rPr sz="1200" spc="-35" dirty="0">
                <a:latin typeface="Lucida Sans Unicode"/>
                <a:cs typeface="Lucida Sans Unicode"/>
              </a:rPr>
              <a:t> </a:t>
            </a:r>
            <a:r>
              <a:rPr sz="1200" dirty="0">
                <a:latin typeface="Lucida Sans Unicode"/>
                <a:cs typeface="Lucida Sans Unicode"/>
              </a:rPr>
              <a:t>a</a:t>
            </a:r>
            <a:r>
              <a:rPr sz="1200" spc="-30" dirty="0">
                <a:latin typeface="Lucida Sans Unicode"/>
                <a:cs typeface="Lucida Sans Unicode"/>
              </a:rPr>
              <a:t> </a:t>
            </a:r>
            <a:r>
              <a:rPr sz="1200" spc="-45" dirty="0">
                <a:latin typeface="Lucida Sans Unicode"/>
                <a:cs typeface="Lucida Sans Unicode"/>
              </a:rPr>
              <a:t>database-</a:t>
            </a:r>
            <a:r>
              <a:rPr sz="1200" spc="-20" dirty="0">
                <a:latin typeface="Lucida Sans Unicode"/>
                <a:cs typeface="Lucida Sans Unicode"/>
              </a:rPr>
              <a:t>less</a:t>
            </a:r>
            <a:r>
              <a:rPr sz="1200" spc="-30" dirty="0">
                <a:latin typeface="Lucida Sans Unicode"/>
                <a:cs typeface="Lucida Sans Unicode"/>
              </a:rPr>
              <a:t> </a:t>
            </a:r>
            <a:r>
              <a:rPr sz="1200" spc="-10" dirty="0">
                <a:latin typeface="Lucida Sans Unicode"/>
                <a:cs typeface="Lucida Sans Unicode"/>
              </a:rPr>
              <a:t>system</a:t>
            </a:r>
            <a:r>
              <a:rPr sz="1200" spc="-35" dirty="0">
                <a:latin typeface="Lucida Sans Unicode"/>
                <a:cs typeface="Lucida Sans Unicode"/>
              </a:rPr>
              <a:t> </a:t>
            </a:r>
            <a:r>
              <a:rPr sz="1200" spc="-55" dirty="0">
                <a:latin typeface="Lucida Sans Unicode"/>
                <a:cs typeface="Lucida Sans Unicode"/>
              </a:rPr>
              <a:t>high- 	</a:t>
            </a:r>
            <a:r>
              <a:rPr sz="1200" spc="-25" dirty="0">
                <a:latin typeface="Lucida Sans Unicode"/>
                <a:cs typeface="Lucida Sans Unicode"/>
              </a:rPr>
              <a:t>lights</a:t>
            </a:r>
            <a:r>
              <a:rPr sz="1200" spc="-20" dirty="0">
                <a:latin typeface="Lucida Sans Unicode"/>
                <a:cs typeface="Lucida Sans Unicode"/>
              </a:rPr>
              <a:t> </a:t>
            </a:r>
            <a:r>
              <a:rPr sz="1200" dirty="0">
                <a:latin typeface="Lucida Sans Unicode"/>
                <a:cs typeface="Lucida Sans Unicode"/>
              </a:rPr>
              <a:t>the</a:t>
            </a:r>
            <a:r>
              <a:rPr sz="1200" spc="-20" dirty="0">
                <a:latin typeface="Lucida Sans Unicode"/>
                <a:cs typeface="Lucida Sans Unicode"/>
              </a:rPr>
              <a:t> </a:t>
            </a:r>
            <a:r>
              <a:rPr sz="1200" spc="-25" dirty="0">
                <a:latin typeface="Lucida Sans Unicode"/>
                <a:cs typeface="Lucida Sans Unicode"/>
              </a:rPr>
              <a:t>critical</a:t>
            </a:r>
            <a:r>
              <a:rPr sz="1200" spc="-15" dirty="0">
                <a:latin typeface="Lucida Sans Unicode"/>
                <a:cs typeface="Lucida Sans Unicode"/>
              </a:rPr>
              <a:t> </a:t>
            </a:r>
            <a:r>
              <a:rPr sz="1200" spc="-10" dirty="0">
                <a:latin typeface="Lucida Sans Unicode"/>
                <a:cs typeface="Lucida Sans Unicode"/>
              </a:rPr>
              <a:t>importance</a:t>
            </a:r>
            <a:r>
              <a:rPr sz="1200" spc="-20" dirty="0">
                <a:latin typeface="Lucida Sans Unicode"/>
                <a:cs typeface="Lucida Sans Unicode"/>
              </a:rPr>
              <a:t> </a:t>
            </a:r>
            <a:r>
              <a:rPr sz="1200" dirty="0">
                <a:latin typeface="Lucida Sans Unicode"/>
                <a:cs typeface="Lucida Sans Unicode"/>
              </a:rPr>
              <a:t>of</a:t>
            </a:r>
            <a:r>
              <a:rPr sz="1200" spc="-20" dirty="0">
                <a:latin typeface="Lucida Sans Unicode"/>
                <a:cs typeface="Lucida Sans Unicode"/>
              </a:rPr>
              <a:t> </a:t>
            </a:r>
            <a:r>
              <a:rPr sz="1200" spc="-40" dirty="0">
                <a:latin typeface="Lucida Sans Unicode"/>
                <a:cs typeface="Lucida Sans Unicode"/>
              </a:rPr>
              <a:t>serialization/deserialization</a:t>
            </a:r>
            <a:r>
              <a:rPr sz="1200" spc="-15" dirty="0">
                <a:latin typeface="Lucida Sans Unicode"/>
                <a:cs typeface="Lucida Sans Unicode"/>
              </a:rPr>
              <a:t> </a:t>
            </a:r>
            <a:r>
              <a:rPr sz="1200" spc="-25" dirty="0">
                <a:latin typeface="Lucida Sans Unicode"/>
                <a:cs typeface="Lucida Sans Unicode"/>
              </a:rPr>
              <a:t>processes,</a:t>
            </a:r>
            <a:r>
              <a:rPr sz="1200" spc="-5" dirty="0">
                <a:latin typeface="Lucida Sans Unicode"/>
                <a:cs typeface="Lucida Sans Unicode"/>
              </a:rPr>
              <a:t> </a:t>
            </a:r>
            <a:r>
              <a:rPr sz="1200" spc="-25" dirty="0">
                <a:latin typeface="Lucida Sans Unicode"/>
                <a:cs typeface="Lucida Sans Unicode"/>
              </a:rPr>
              <a:t>par- 	</a:t>
            </a:r>
            <a:r>
              <a:rPr sz="1200" spc="-30" dirty="0">
                <a:latin typeface="Lucida Sans Unicode"/>
                <a:cs typeface="Lucida Sans Unicode"/>
              </a:rPr>
              <a:t>ticularly</a:t>
            </a:r>
            <a:r>
              <a:rPr sz="1200" spc="-50" dirty="0">
                <a:latin typeface="Lucida Sans Unicode"/>
                <a:cs typeface="Lucida Sans Unicode"/>
              </a:rPr>
              <a:t> </a:t>
            </a:r>
            <a:r>
              <a:rPr sz="1200" spc="-25" dirty="0">
                <a:latin typeface="Lucida Sans Unicode"/>
                <a:cs typeface="Lucida Sans Unicode"/>
              </a:rPr>
              <a:t>concerning</a:t>
            </a:r>
            <a:r>
              <a:rPr sz="1200" spc="-45" dirty="0">
                <a:latin typeface="Lucida Sans Unicode"/>
                <a:cs typeface="Lucida Sans Unicode"/>
              </a:rPr>
              <a:t> </a:t>
            </a:r>
            <a:r>
              <a:rPr sz="1200" spc="-10" dirty="0">
                <a:latin typeface="Lucida Sans Unicode"/>
                <a:cs typeface="Lucida Sans Unicode"/>
              </a:rPr>
              <a:t>data</a:t>
            </a:r>
            <a:r>
              <a:rPr sz="1200" spc="-45" dirty="0">
                <a:latin typeface="Lucida Sans Unicode"/>
                <a:cs typeface="Lucida Sans Unicode"/>
              </a:rPr>
              <a:t> </a:t>
            </a:r>
            <a:r>
              <a:rPr sz="1200" spc="-10" dirty="0">
                <a:latin typeface="Lucida Sans Unicode"/>
                <a:cs typeface="Lucida Sans Unicode"/>
              </a:rPr>
              <a:t>type</a:t>
            </a:r>
            <a:r>
              <a:rPr sz="1200" spc="-45" dirty="0">
                <a:latin typeface="Lucida Sans Unicode"/>
                <a:cs typeface="Lucida Sans Unicode"/>
              </a:rPr>
              <a:t> </a:t>
            </a:r>
            <a:r>
              <a:rPr sz="1200" spc="-10" dirty="0">
                <a:latin typeface="Lucida Sans Unicode"/>
                <a:cs typeface="Lucida Sans Unicode"/>
              </a:rPr>
              <a:t>consistency.</a:t>
            </a:r>
            <a:endParaRPr sz="1200">
              <a:latin typeface="Lucida Sans Unicode"/>
              <a:cs typeface="Lucida Sans Unicode"/>
            </a:endParaRPr>
          </a:p>
          <a:p>
            <a:pPr marL="142875" marR="5080" indent="-130810" algn="just">
              <a:lnSpc>
                <a:spcPct val="100000"/>
              </a:lnSpc>
              <a:spcBef>
                <a:spcPts val="1010"/>
              </a:spcBef>
              <a:buFont typeface="Lucida Sans Unicode"/>
              <a:buChar char="•"/>
              <a:tabLst>
                <a:tab pos="145415" algn="l"/>
              </a:tabLst>
            </a:pPr>
            <a:r>
              <a:rPr sz="1200" spc="-100" dirty="0">
                <a:latin typeface="Arial Black"/>
                <a:cs typeface="Arial Black"/>
              </a:rPr>
              <a:t>Defensive</a:t>
            </a:r>
            <a:r>
              <a:rPr sz="1200" dirty="0">
                <a:latin typeface="Arial Black"/>
                <a:cs typeface="Arial Black"/>
              </a:rPr>
              <a:t> </a:t>
            </a:r>
            <a:r>
              <a:rPr sz="1200" spc="-55" dirty="0">
                <a:latin typeface="Arial Black"/>
                <a:cs typeface="Arial Black"/>
              </a:rPr>
              <a:t>Programming:</a:t>
            </a:r>
            <a:r>
              <a:rPr sz="1200" spc="120" dirty="0">
                <a:latin typeface="Arial Black"/>
                <a:cs typeface="Arial Black"/>
              </a:rPr>
              <a:t> </a:t>
            </a:r>
            <a:r>
              <a:rPr sz="1200" spc="-90" dirty="0">
                <a:latin typeface="Lucida Sans Unicode"/>
                <a:cs typeface="Lucida Sans Unicode"/>
              </a:rPr>
              <a:t>The</a:t>
            </a:r>
            <a:r>
              <a:rPr sz="1200" spc="-5" dirty="0">
                <a:latin typeface="Lucida Sans Unicode"/>
                <a:cs typeface="Lucida Sans Unicode"/>
              </a:rPr>
              <a:t> </a:t>
            </a:r>
            <a:r>
              <a:rPr sz="1200" spc="-45" dirty="0">
                <a:latin typeface="Lucida Sans Unicode"/>
                <a:cs typeface="Lucida Sans Unicode"/>
              </a:rPr>
              <a:t>project</a:t>
            </a:r>
            <a:r>
              <a:rPr sz="1200" spc="-35" dirty="0">
                <a:latin typeface="Lucida Sans Unicode"/>
                <a:cs typeface="Lucida Sans Unicode"/>
              </a:rPr>
              <a:t> reinforced</a:t>
            </a:r>
            <a:r>
              <a:rPr sz="1200" spc="-30" dirty="0">
                <a:latin typeface="Lucida Sans Unicode"/>
                <a:cs typeface="Lucida Sans Unicode"/>
              </a:rPr>
              <a:t> </a:t>
            </a:r>
            <a:r>
              <a:rPr sz="1200" spc="-50" dirty="0">
                <a:latin typeface="Lucida Sans Unicode"/>
                <a:cs typeface="Lucida Sans Unicode"/>
              </a:rPr>
              <a:t>the</a:t>
            </a:r>
            <a:r>
              <a:rPr sz="1200" spc="-30" dirty="0">
                <a:latin typeface="Lucida Sans Unicode"/>
                <a:cs typeface="Lucida Sans Unicode"/>
              </a:rPr>
              <a:t> </a:t>
            </a:r>
            <a:r>
              <a:rPr sz="1200" spc="-40" dirty="0">
                <a:latin typeface="Lucida Sans Unicode"/>
                <a:cs typeface="Lucida Sans Unicode"/>
              </a:rPr>
              <a:t>need</a:t>
            </a:r>
            <a:r>
              <a:rPr sz="1200" spc="-30" dirty="0">
                <a:latin typeface="Lucida Sans Unicode"/>
                <a:cs typeface="Lucida Sans Unicode"/>
              </a:rPr>
              <a:t> </a:t>
            </a:r>
            <a:r>
              <a:rPr sz="1200" spc="-70" dirty="0">
                <a:latin typeface="Lucida Sans Unicode"/>
                <a:cs typeface="Lucida Sans Unicode"/>
              </a:rPr>
              <a:t>for</a:t>
            </a:r>
            <a:r>
              <a:rPr sz="1200" spc="-25" dirty="0">
                <a:latin typeface="Lucida Sans Unicode"/>
                <a:cs typeface="Lucida Sans Unicode"/>
              </a:rPr>
              <a:t> </a:t>
            </a:r>
            <a:r>
              <a:rPr sz="1200" spc="-35" dirty="0">
                <a:latin typeface="Lucida Sans Unicode"/>
                <a:cs typeface="Lucida Sans Unicode"/>
              </a:rPr>
              <a:t>defensive</a:t>
            </a:r>
            <a:r>
              <a:rPr sz="1200" spc="-30" dirty="0">
                <a:latin typeface="Lucida Sans Unicode"/>
                <a:cs typeface="Lucida Sans Unicode"/>
              </a:rPr>
              <a:t> </a:t>
            </a:r>
            <a:r>
              <a:rPr sz="1200" spc="-20" dirty="0">
                <a:latin typeface="Lucida Sans Unicode"/>
                <a:cs typeface="Lucida Sans Unicode"/>
              </a:rPr>
              <a:t>pro- 	</a:t>
            </a:r>
            <a:r>
              <a:rPr sz="1200" spc="-25" dirty="0">
                <a:latin typeface="Lucida Sans Unicode"/>
                <a:cs typeface="Lucida Sans Unicode"/>
              </a:rPr>
              <a:t>gramming—always</a:t>
            </a:r>
            <a:r>
              <a:rPr sz="1200" spc="-70" dirty="0">
                <a:latin typeface="Lucida Sans Unicode"/>
                <a:cs typeface="Lucida Sans Unicode"/>
              </a:rPr>
              <a:t> </a:t>
            </a:r>
            <a:r>
              <a:rPr sz="1200" spc="-35" dirty="0">
                <a:latin typeface="Lucida Sans Unicode"/>
                <a:cs typeface="Lucida Sans Unicode"/>
              </a:rPr>
              <a:t>anticipating</a:t>
            </a:r>
            <a:r>
              <a:rPr sz="1200" spc="-15" dirty="0">
                <a:latin typeface="Lucida Sans Unicode"/>
                <a:cs typeface="Lucida Sans Unicode"/>
              </a:rPr>
              <a:t> </a:t>
            </a:r>
            <a:r>
              <a:rPr sz="1200" spc="-35" dirty="0">
                <a:latin typeface="Lucida Sans Unicode"/>
                <a:cs typeface="Lucida Sans Unicode"/>
              </a:rPr>
              <a:t>and</a:t>
            </a:r>
            <a:r>
              <a:rPr sz="1200" spc="-20" dirty="0">
                <a:latin typeface="Lucida Sans Unicode"/>
                <a:cs typeface="Lucida Sans Unicode"/>
              </a:rPr>
              <a:t> </a:t>
            </a:r>
            <a:r>
              <a:rPr sz="1200" spc="-35" dirty="0">
                <a:latin typeface="Lucida Sans Unicode"/>
                <a:cs typeface="Lucida Sans Unicode"/>
              </a:rPr>
              <a:t>validating</a:t>
            </a:r>
            <a:r>
              <a:rPr sz="1200" spc="-20" dirty="0">
                <a:latin typeface="Lucida Sans Unicode"/>
                <a:cs typeface="Lucida Sans Unicode"/>
              </a:rPr>
              <a:t> </a:t>
            </a:r>
            <a:r>
              <a:rPr sz="1200" spc="-30" dirty="0">
                <a:latin typeface="Lucida Sans Unicode"/>
                <a:cs typeface="Lucida Sans Unicode"/>
              </a:rPr>
              <a:t>user</a:t>
            </a:r>
            <a:r>
              <a:rPr sz="1200" spc="-20" dirty="0">
                <a:latin typeface="Lucida Sans Unicode"/>
                <a:cs typeface="Lucida Sans Unicode"/>
              </a:rPr>
              <a:t> </a:t>
            </a:r>
            <a:r>
              <a:rPr sz="1200" spc="-40" dirty="0">
                <a:latin typeface="Lucida Sans Unicode"/>
                <a:cs typeface="Lucida Sans Unicode"/>
              </a:rPr>
              <a:t>input,</a:t>
            </a:r>
            <a:r>
              <a:rPr sz="1200" spc="-5" dirty="0">
                <a:latin typeface="Lucida Sans Unicode"/>
                <a:cs typeface="Lucida Sans Unicode"/>
              </a:rPr>
              <a:t> </a:t>
            </a:r>
            <a:r>
              <a:rPr sz="1200" spc="-75" dirty="0">
                <a:latin typeface="Lucida Sans Unicode"/>
                <a:cs typeface="Lucida Sans Unicode"/>
              </a:rPr>
              <a:t>as</a:t>
            </a:r>
            <a:r>
              <a:rPr sz="1200" spc="-20" dirty="0">
                <a:latin typeface="Lucida Sans Unicode"/>
                <a:cs typeface="Lucida Sans Unicode"/>
              </a:rPr>
              <a:t> </a:t>
            </a:r>
            <a:r>
              <a:rPr sz="1200" spc="-60" dirty="0">
                <a:latin typeface="Lucida Sans Unicode"/>
                <a:cs typeface="Lucida Sans Unicode"/>
              </a:rPr>
              <a:t>this</a:t>
            </a:r>
            <a:r>
              <a:rPr sz="1200" spc="-20" dirty="0">
                <a:latin typeface="Lucida Sans Unicode"/>
                <a:cs typeface="Lucida Sans Unicode"/>
              </a:rPr>
              <a:t> </a:t>
            </a:r>
            <a:r>
              <a:rPr sz="1200" spc="-120" dirty="0">
                <a:latin typeface="Lucida Sans Unicode"/>
                <a:cs typeface="Lucida Sans Unicode"/>
              </a:rPr>
              <a:t>is</a:t>
            </a:r>
            <a:r>
              <a:rPr sz="1200" spc="30" dirty="0">
                <a:latin typeface="Lucida Sans Unicode"/>
                <a:cs typeface="Lucida Sans Unicode"/>
              </a:rPr>
              <a:t> </a:t>
            </a:r>
            <a:r>
              <a:rPr sz="1200" spc="-25" dirty="0">
                <a:latin typeface="Lucida Sans Unicode"/>
                <a:cs typeface="Lucida Sans Unicode"/>
              </a:rPr>
              <a:t>the</a:t>
            </a:r>
            <a:r>
              <a:rPr sz="1200" spc="-20" dirty="0">
                <a:latin typeface="Lucida Sans Unicode"/>
                <a:cs typeface="Lucida Sans Unicode"/>
              </a:rPr>
              <a:t> most 	common</a:t>
            </a:r>
            <a:r>
              <a:rPr sz="1200" spc="-50" dirty="0">
                <a:latin typeface="Lucida Sans Unicode"/>
                <a:cs typeface="Lucida Sans Unicode"/>
              </a:rPr>
              <a:t> </a:t>
            </a:r>
            <a:r>
              <a:rPr sz="1200" spc="-25" dirty="0">
                <a:latin typeface="Lucida Sans Unicode"/>
                <a:cs typeface="Lucida Sans Unicode"/>
              </a:rPr>
              <a:t>point</a:t>
            </a:r>
            <a:r>
              <a:rPr sz="1200" spc="-50" dirty="0">
                <a:latin typeface="Lucida Sans Unicode"/>
                <a:cs typeface="Lucida Sans Unicode"/>
              </a:rPr>
              <a:t> </a:t>
            </a:r>
            <a:r>
              <a:rPr sz="1200" spc="-30" dirty="0">
                <a:latin typeface="Lucida Sans Unicode"/>
                <a:cs typeface="Lucida Sans Unicode"/>
              </a:rPr>
              <a:t>of</a:t>
            </a:r>
            <a:r>
              <a:rPr sz="1200" spc="-50" dirty="0">
                <a:latin typeface="Lucida Sans Unicode"/>
                <a:cs typeface="Lucida Sans Unicode"/>
              </a:rPr>
              <a:t> </a:t>
            </a:r>
            <a:r>
              <a:rPr sz="1200" spc="-25" dirty="0">
                <a:latin typeface="Lucida Sans Unicode"/>
                <a:cs typeface="Lucida Sans Unicode"/>
              </a:rPr>
              <a:t>failure</a:t>
            </a:r>
            <a:r>
              <a:rPr sz="1200" spc="-50" dirty="0">
                <a:latin typeface="Lucida Sans Unicode"/>
                <a:cs typeface="Lucida Sans Unicode"/>
              </a:rPr>
              <a:t> </a:t>
            </a:r>
            <a:r>
              <a:rPr sz="1200" spc="-35" dirty="0">
                <a:latin typeface="Lucida Sans Unicode"/>
                <a:cs typeface="Lucida Sans Unicode"/>
              </a:rPr>
              <a:t>in</a:t>
            </a:r>
            <a:r>
              <a:rPr sz="1200" spc="-50" dirty="0">
                <a:latin typeface="Lucida Sans Unicode"/>
                <a:cs typeface="Lucida Sans Unicode"/>
              </a:rPr>
              <a:t> </a:t>
            </a:r>
            <a:r>
              <a:rPr sz="1200" spc="-20" dirty="0">
                <a:latin typeface="Lucida Sans Unicode"/>
                <a:cs typeface="Lucida Sans Unicode"/>
              </a:rPr>
              <a:t>interactive</a:t>
            </a:r>
            <a:r>
              <a:rPr sz="1200" spc="-45" dirty="0">
                <a:latin typeface="Lucida Sans Unicode"/>
                <a:cs typeface="Lucida Sans Unicode"/>
              </a:rPr>
              <a:t> </a:t>
            </a:r>
            <a:r>
              <a:rPr sz="1200" spc="-10" dirty="0">
                <a:latin typeface="Lucida Sans Unicode"/>
                <a:cs typeface="Lucida Sans Unicode"/>
              </a:rPr>
              <a:t>applications.</a:t>
            </a:r>
            <a:endParaRPr sz="1200">
              <a:latin typeface="Lucida Sans Unicode"/>
              <a:cs typeface="Lucida Sans Unicod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15</a:t>
            </a:r>
          </a:p>
        </p:txBody>
      </p:sp>
      <p:sp>
        <p:nvSpPr>
          <p:cNvPr id="2" name="object 2"/>
          <p:cNvSpPr txBox="1"/>
          <p:nvPr/>
        </p:nvSpPr>
        <p:spPr>
          <a:xfrm>
            <a:off x="887298" y="1736546"/>
            <a:ext cx="3482975" cy="1036319"/>
          </a:xfrm>
          <a:prstGeom prst="rect">
            <a:avLst/>
          </a:prstGeom>
        </p:spPr>
        <p:txBody>
          <a:bodyPr vert="horz" wrap="square" lIns="0" tIns="15875" rIns="0" bIns="0" rtlCol="0">
            <a:spAutoFit/>
          </a:bodyPr>
          <a:lstStyle/>
          <a:p>
            <a:pPr marL="12700">
              <a:lnSpc>
                <a:spcPct val="100000"/>
              </a:lnSpc>
              <a:spcBef>
                <a:spcPts val="125"/>
              </a:spcBef>
            </a:pPr>
            <a:r>
              <a:rPr sz="2450" spc="-110" dirty="0">
                <a:latin typeface="Arial Black"/>
                <a:cs typeface="Arial Black"/>
              </a:rPr>
              <a:t>Chapter</a:t>
            </a:r>
            <a:r>
              <a:rPr sz="2450" spc="-150" dirty="0">
                <a:latin typeface="Arial Black"/>
                <a:cs typeface="Arial Black"/>
              </a:rPr>
              <a:t> </a:t>
            </a:r>
            <a:r>
              <a:rPr sz="2450" spc="-25" dirty="0">
                <a:latin typeface="Arial Black"/>
                <a:cs typeface="Arial Black"/>
              </a:rPr>
              <a:t>13</a:t>
            </a:r>
            <a:endParaRPr sz="2450">
              <a:latin typeface="Arial Black"/>
              <a:cs typeface="Arial Black"/>
            </a:endParaRPr>
          </a:p>
          <a:p>
            <a:pPr marL="12700">
              <a:lnSpc>
                <a:spcPct val="100000"/>
              </a:lnSpc>
              <a:spcBef>
                <a:spcPts val="2045"/>
              </a:spcBef>
            </a:pPr>
            <a:r>
              <a:rPr sz="2450" spc="-90" dirty="0">
                <a:latin typeface="Arial Black"/>
                <a:cs typeface="Arial Black"/>
              </a:rPr>
              <a:t>Future</a:t>
            </a:r>
            <a:r>
              <a:rPr sz="2450" spc="-150" dirty="0">
                <a:latin typeface="Arial Black"/>
                <a:cs typeface="Arial Black"/>
              </a:rPr>
              <a:t> </a:t>
            </a:r>
            <a:r>
              <a:rPr sz="2450" spc="-130" dirty="0">
                <a:latin typeface="Arial Black"/>
                <a:cs typeface="Arial Black"/>
              </a:rPr>
              <a:t>Enhancements</a:t>
            </a:r>
            <a:endParaRPr sz="2450">
              <a:latin typeface="Arial Black"/>
              <a:cs typeface="Arial Black"/>
            </a:endParaRPr>
          </a:p>
        </p:txBody>
      </p:sp>
      <p:sp>
        <p:nvSpPr>
          <p:cNvPr id="3" name="object 3"/>
          <p:cNvSpPr txBox="1"/>
          <p:nvPr/>
        </p:nvSpPr>
        <p:spPr>
          <a:xfrm>
            <a:off x="887298" y="3221695"/>
            <a:ext cx="5786120" cy="2219960"/>
          </a:xfrm>
          <a:prstGeom prst="rect">
            <a:avLst/>
          </a:prstGeom>
        </p:spPr>
        <p:txBody>
          <a:bodyPr vert="horz" wrap="square" lIns="0" tIns="12065" rIns="0" bIns="0" rtlCol="0">
            <a:spAutoFit/>
          </a:bodyPr>
          <a:lstStyle/>
          <a:p>
            <a:pPr marL="12700">
              <a:lnSpc>
                <a:spcPct val="100000"/>
              </a:lnSpc>
              <a:spcBef>
                <a:spcPts val="95"/>
              </a:spcBef>
            </a:pPr>
            <a:r>
              <a:rPr sz="1200" spc="-45" dirty="0">
                <a:latin typeface="Lucida Sans Unicode"/>
                <a:cs typeface="Lucida Sans Unicode"/>
              </a:rPr>
              <a:t>The</a:t>
            </a:r>
            <a:r>
              <a:rPr sz="1200" spc="-55" dirty="0">
                <a:latin typeface="Lucida Sans Unicode"/>
                <a:cs typeface="Lucida Sans Unicode"/>
              </a:rPr>
              <a:t> </a:t>
            </a:r>
            <a:r>
              <a:rPr sz="1200" spc="-30" dirty="0">
                <a:latin typeface="Lucida Sans Unicode"/>
                <a:cs typeface="Lucida Sans Unicode"/>
              </a:rPr>
              <a:t>following</a:t>
            </a:r>
            <a:r>
              <a:rPr sz="1200" spc="-50" dirty="0">
                <a:latin typeface="Lucida Sans Unicode"/>
                <a:cs typeface="Lucida Sans Unicode"/>
              </a:rPr>
              <a:t> </a:t>
            </a:r>
            <a:r>
              <a:rPr sz="1200" spc="-20" dirty="0">
                <a:latin typeface="Lucida Sans Unicode"/>
                <a:cs typeface="Lucida Sans Unicode"/>
              </a:rPr>
              <a:t>enhancements</a:t>
            </a:r>
            <a:r>
              <a:rPr sz="1200" spc="-50" dirty="0">
                <a:latin typeface="Lucida Sans Unicode"/>
                <a:cs typeface="Lucida Sans Unicode"/>
              </a:rPr>
              <a:t> </a:t>
            </a:r>
            <a:r>
              <a:rPr sz="1200" dirty="0">
                <a:latin typeface="Lucida Sans Unicode"/>
                <a:cs typeface="Lucida Sans Unicode"/>
              </a:rPr>
              <a:t>are</a:t>
            </a:r>
            <a:r>
              <a:rPr sz="1200" spc="-55" dirty="0">
                <a:latin typeface="Lucida Sans Unicode"/>
                <a:cs typeface="Lucida Sans Unicode"/>
              </a:rPr>
              <a:t> </a:t>
            </a:r>
            <a:r>
              <a:rPr sz="1200" spc="-10" dirty="0">
                <a:latin typeface="Lucida Sans Unicode"/>
                <a:cs typeface="Lucida Sans Unicode"/>
              </a:rPr>
              <a:t>recommended</a:t>
            </a:r>
            <a:r>
              <a:rPr sz="1200" spc="-50" dirty="0">
                <a:latin typeface="Lucida Sans Unicode"/>
                <a:cs typeface="Lucida Sans Unicode"/>
              </a:rPr>
              <a:t> </a:t>
            </a:r>
            <a:r>
              <a:rPr sz="1200" spc="-20" dirty="0">
                <a:latin typeface="Lucida Sans Unicode"/>
                <a:cs typeface="Lucida Sans Unicode"/>
              </a:rPr>
              <a:t>for</a:t>
            </a:r>
            <a:r>
              <a:rPr sz="1200" spc="-50" dirty="0">
                <a:latin typeface="Lucida Sans Unicode"/>
                <a:cs typeface="Lucida Sans Unicode"/>
              </a:rPr>
              <a:t> </a:t>
            </a:r>
            <a:r>
              <a:rPr sz="1200" dirty="0">
                <a:latin typeface="Lucida Sans Unicode"/>
                <a:cs typeface="Lucida Sans Unicode"/>
              </a:rPr>
              <a:t>Phase</a:t>
            </a:r>
            <a:r>
              <a:rPr sz="1200" spc="-50" dirty="0">
                <a:latin typeface="Lucida Sans Unicode"/>
                <a:cs typeface="Lucida Sans Unicode"/>
              </a:rPr>
              <a:t> </a:t>
            </a:r>
            <a:r>
              <a:rPr sz="1200" spc="50" dirty="0">
                <a:latin typeface="Lucida Sans Unicode"/>
                <a:cs typeface="Lucida Sans Unicode"/>
              </a:rPr>
              <a:t>II</a:t>
            </a:r>
            <a:r>
              <a:rPr sz="1200" spc="-55" dirty="0">
                <a:latin typeface="Lucida Sans Unicode"/>
                <a:cs typeface="Lucida Sans Unicode"/>
              </a:rPr>
              <a:t> </a:t>
            </a:r>
            <a:r>
              <a:rPr sz="1200" spc="-10" dirty="0">
                <a:latin typeface="Lucida Sans Unicode"/>
                <a:cs typeface="Lucida Sans Unicode"/>
              </a:rPr>
              <a:t>development:</a:t>
            </a:r>
            <a:endParaRPr sz="1200">
              <a:latin typeface="Lucida Sans Unicode"/>
              <a:cs typeface="Lucida Sans Unicode"/>
            </a:endParaRPr>
          </a:p>
          <a:p>
            <a:pPr marL="389255" marR="5080" indent="-201295">
              <a:lnSpc>
                <a:spcPct val="100000"/>
              </a:lnSpc>
              <a:spcBef>
                <a:spcPts val="1300"/>
              </a:spcBef>
              <a:buFont typeface="Lucida Sans Unicode"/>
              <a:buAutoNum type="arabicPeriod"/>
              <a:tabLst>
                <a:tab pos="391795" algn="l"/>
              </a:tabLst>
            </a:pPr>
            <a:r>
              <a:rPr sz="1200" spc="-85" dirty="0">
                <a:latin typeface="Arial Black"/>
                <a:cs typeface="Arial Black"/>
              </a:rPr>
              <a:t>Transaction</a:t>
            </a:r>
            <a:r>
              <a:rPr sz="1200" spc="-70" dirty="0">
                <a:latin typeface="Arial Black"/>
                <a:cs typeface="Arial Black"/>
              </a:rPr>
              <a:t> </a:t>
            </a:r>
            <a:r>
              <a:rPr sz="1200" spc="-45" dirty="0">
                <a:latin typeface="Arial Black"/>
                <a:cs typeface="Arial Black"/>
              </a:rPr>
              <a:t>Logging:</a:t>
            </a:r>
            <a:r>
              <a:rPr sz="1200" spc="35" dirty="0">
                <a:latin typeface="Arial Black"/>
                <a:cs typeface="Arial Black"/>
              </a:rPr>
              <a:t> </a:t>
            </a:r>
            <a:r>
              <a:rPr sz="1200" spc="-10" dirty="0">
                <a:latin typeface="Lucida Sans Unicode"/>
                <a:cs typeface="Lucida Sans Unicode"/>
              </a:rPr>
              <a:t>Implement</a:t>
            </a:r>
            <a:r>
              <a:rPr sz="1200" spc="-55" dirty="0">
                <a:latin typeface="Lucida Sans Unicode"/>
                <a:cs typeface="Lucida Sans Unicode"/>
              </a:rPr>
              <a:t> </a:t>
            </a:r>
            <a:r>
              <a:rPr sz="1200" dirty="0">
                <a:latin typeface="Lucida Sans Unicode"/>
                <a:cs typeface="Lucida Sans Unicode"/>
              </a:rPr>
              <a:t>a</a:t>
            </a:r>
            <a:r>
              <a:rPr sz="1200" spc="-55" dirty="0">
                <a:latin typeface="Lucida Sans Unicode"/>
                <a:cs typeface="Lucida Sans Unicode"/>
              </a:rPr>
              <a:t> </a:t>
            </a:r>
            <a:r>
              <a:rPr sz="1200" spc="-10" dirty="0">
                <a:latin typeface="Lucida Sans Unicode"/>
                <a:cs typeface="Lucida Sans Unicode"/>
              </a:rPr>
              <a:t>separate</a:t>
            </a:r>
            <a:r>
              <a:rPr sz="1200" spc="-55" dirty="0">
                <a:latin typeface="Lucida Sans Unicode"/>
                <a:cs typeface="Lucida Sans Unicode"/>
              </a:rPr>
              <a:t> </a:t>
            </a:r>
            <a:r>
              <a:rPr sz="1200" spc="-10" dirty="0">
                <a:latin typeface="Lucida Sans Unicode"/>
                <a:cs typeface="Lucida Sans Unicode"/>
              </a:rPr>
              <a:t>module</a:t>
            </a:r>
            <a:r>
              <a:rPr sz="1200" spc="-55" dirty="0">
                <a:latin typeface="Lucida Sans Unicode"/>
                <a:cs typeface="Lucida Sans Unicode"/>
              </a:rPr>
              <a:t> </a:t>
            </a:r>
            <a:r>
              <a:rPr sz="1200" dirty="0">
                <a:latin typeface="Lucida Sans Unicode"/>
                <a:cs typeface="Lucida Sans Unicode"/>
              </a:rPr>
              <a:t>to</a:t>
            </a:r>
            <a:r>
              <a:rPr sz="1200" spc="-55" dirty="0">
                <a:latin typeface="Lucida Sans Unicode"/>
                <a:cs typeface="Lucida Sans Unicode"/>
              </a:rPr>
              <a:t> </a:t>
            </a:r>
            <a:r>
              <a:rPr sz="1200" spc="-20" dirty="0">
                <a:latin typeface="Lucida Sans Unicode"/>
                <a:cs typeface="Lucida Sans Unicode"/>
              </a:rPr>
              <a:t>log</a:t>
            </a:r>
            <a:r>
              <a:rPr sz="1200" spc="-55" dirty="0">
                <a:latin typeface="Lucida Sans Unicode"/>
                <a:cs typeface="Lucida Sans Unicode"/>
              </a:rPr>
              <a:t> </a:t>
            </a:r>
            <a:r>
              <a:rPr sz="1200" spc="-20" dirty="0">
                <a:latin typeface="Lucida Sans Unicode"/>
                <a:cs typeface="Lucida Sans Unicode"/>
              </a:rPr>
              <a:t>all</a:t>
            </a:r>
            <a:r>
              <a:rPr sz="1200" spc="-55" dirty="0">
                <a:latin typeface="Lucida Sans Unicode"/>
                <a:cs typeface="Lucida Sans Unicode"/>
              </a:rPr>
              <a:t> </a:t>
            </a:r>
            <a:r>
              <a:rPr sz="1200" spc="-35" dirty="0">
                <a:latin typeface="Lucida Sans Unicode"/>
                <a:cs typeface="Lucida Sans Unicode"/>
              </a:rPr>
              <a:t>stock</a:t>
            </a:r>
            <a:r>
              <a:rPr sz="1200" spc="-60" dirty="0">
                <a:latin typeface="Lucida Sans Unicode"/>
                <a:cs typeface="Lucida Sans Unicode"/>
              </a:rPr>
              <a:t> </a:t>
            </a:r>
            <a:r>
              <a:rPr sz="1200" spc="-45" dirty="0">
                <a:latin typeface="Lucida Sans Unicode"/>
                <a:cs typeface="Lucida Sans Unicode"/>
              </a:rPr>
              <a:t>move- 	</a:t>
            </a:r>
            <a:r>
              <a:rPr sz="1200" spc="-20" dirty="0">
                <a:latin typeface="Lucida Sans Unicode"/>
                <a:cs typeface="Lucida Sans Unicode"/>
              </a:rPr>
              <a:t>ments</a:t>
            </a:r>
            <a:r>
              <a:rPr sz="1200" spc="-35" dirty="0">
                <a:latin typeface="Lucida Sans Unicode"/>
                <a:cs typeface="Lucida Sans Unicode"/>
              </a:rPr>
              <a:t> </a:t>
            </a:r>
            <a:r>
              <a:rPr sz="1200" spc="-40" dirty="0">
                <a:latin typeface="Lucida Sans Unicode"/>
                <a:cs typeface="Lucida Sans Unicode"/>
              </a:rPr>
              <a:t>(stock</a:t>
            </a:r>
            <a:r>
              <a:rPr sz="1200" spc="-35" dirty="0">
                <a:latin typeface="Lucida Sans Unicode"/>
                <a:cs typeface="Lucida Sans Unicode"/>
              </a:rPr>
              <a:t> added/removed) </a:t>
            </a:r>
            <a:r>
              <a:rPr sz="1200" spc="-20" dirty="0">
                <a:latin typeface="Lucida Sans Unicode"/>
                <a:cs typeface="Lucida Sans Unicode"/>
              </a:rPr>
              <a:t>with</a:t>
            </a:r>
            <a:r>
              <a:rPr sz="1200" spc="-35" dirty="0">
                <a:latin typeface="Lucida Sans Unicode"/>
                <a:cs typeface="Lucida Sans Unicode"/>
              </a:rPr>
              <a:t> </a:t>
            </a:r>
            <a:r>
              <a:rPr sz="1200" spc="-25" dirty="0">
                <a:latin typeface="Lucida Sans Unicode"/>
                <a:cs typeface="Lucida Sans Unicode"/>
              </a:rPr>
              <a:t>timestamps</a:t>
            </a:r>
            <a:r>
              <a:rPr sz="1200" spc="-35" dirty="0">
                <a:latin typeface="Lucida Sans Unicode"/>
                <a:cs typeface="Lucida Sans Unicode"/>
              </a:rPr>
              <a:t> </a:t>
            </a:r>
            <a:r>
              <a:rPr sz="1200" spc="-20" dirty="0">
                <a:latin typeface="Lucida Sans Unicode"/>
                <a:cs typeface="Lucida Sans Unicode"/>
              </a:rPr>
              <a:t>for</a:t>
            </a:r>
            <a:r>
              <a:rPr sz="1200" spc="-35" dirty="0">
                <a:latin typeface="Lucida Sans Unicode"/>
                <a:cs typeface="Lucida Sans Unicode"/>
              </a:rPr>
              <a:t> </a:t>
            </a:r>
            <a:r>
              <a:rPr sz="1200" spc="-20" dirty="0">
                <a:latin typeface="Lucida Sans Unicode"/>
                <a:cs typeface="Lucida Sans Unicode"/>
              </a:rPr>
              <a:t>detailed</a:t>
            </a:r>
            <a:r>
              <a:rPr sz="1200" spc="-35" dirty="0">
                <a:latin typeface="Lucida Sans Unicode"/>
                <a:cs typeface="Lucida Sans Unicode"/>
              </a:rPr>
              <a:t> </a:t>
            </a:r>
            <a:r>
              <a:rPr sz="1200" spc="-10" dirty="0">
                <a:latin typeface="Lucida Sans Unicode"/>
                <a:cs typeface="Lucida Sans Unicode"/>
              </a:rPr>
              <a:t>auditing.</a:t>
            </a:r>
            <a:endParaRPr sz="1200">
              <a:latin typeface="Lucida Sans Unicode"/>
              <a:cs typeface="Lucida Sans Unicode"/>
            </a:endParaRPr>
          </a:p>
          <a:p>
            <a:pPr marL="389255" marR="5080" indent="-201295">
              <a:lnSpc>
                <a:spcPct val="100000"/>
              </a:lnSpc>
              <a:spcBef>
                <a:spcPts val="1005"/>
              </a:spcBef>
              <a:buFont typeface="Lucida Sans Unicode"/>
              <a:buAutoNum type="arabicPeriod"/>
              <a:tabLst>
                <a:tab pos="391795" algn="l"/>
              </a:tabLst>
            </a:pPr>
            <a:r>
              <a:rPr sz="1200" spc="-80" dirty="0">
                <a:latin typeface="Arial Black"/>
                <a:cs typeface="Arial Black"/>
              </a:rPr>
              <a:t>Database</a:t>
            </a:r>
            <a:r>
              <a:rPr sz="1200" spc="-20" dirty="0">
                <a:latin typeface="Arial Black"/>
                <a:cs typeface="Arial Black"/>
              </a:rPr>
              <a:t> </a:t>
            </a:r>
            <a:r>
              <a:rPr sz="1200" spc="-30" dirty="0">
                <a:latin typeface="Arial Black"/>
                <a:cs typeface="Arial Black"/>
              </a:rPr>
              <a:t>Integration:</a:t>
            </a:r>
            <a:r>
              <a:rPr sz="1200" spc="160" dirty="0">
                <a:latin typeface="Arial Black"/>
                <a:cs typeface="Arial Black"/>
              </a:rPr>
              <a:t> </a:t>
            </a:r>
            <a:r>
              <a:rPr sz="1200" dirty="0">
                <a:latin typeface="Lucida Sans Unicode"/>
                <a:cs typeface="Lucida Sans Unicode"/>
              </a:rPr>
              <a:t>Migrate</a:t>
            </a:r>
            <a:r>
              <a:rPr sz="1200" spc="-10" dirty="0">
                <a:latin typeface="Lucida Sans Unicode"/>
                <a:cs typeface="Lucida Sans Unicode"/>
              </a:rPr>
              <a:t> </a:t>
            </a:r>
            <a:r>
              <a:rPr sz="1200" dirty="0">
                <a:latin typeface="Lucida Sans Unicode"/>
                <a:cs typeface="Lucida Sans Unicode"/>
              </a:rPr>
              <a:t>from</a:t>
            </a:r>
            <a:r>
              <a:rPr sz="1200" spc="-5" dirty="0">
                <a:latin typeface="Lucida Sans Unicode"/>
                <a:cs typeface="Lucida Sans Unicode"/>
              </a:rPr>
              <a:t> </a:t>
            </a:r>
            <a:r>
              <a:rPr sz="1200" dirty="0">
                <a:latin typeface="Lucida Sans Unicode"/>
                <a:cs typeface="Lucida Sans Unicode"/>
              </a:rPr>
              <a:t>JSON</a:t>
            </a:r>
            <a:r>
              <a:rPr sz="1200" spc="-10" dirty="0">
                <a:latin typeface="Lucida Sans Unicode"/>
                <a:cs typeface="Lucida Sans Unicode"/>
              </a:rPr>
              <a:t> </a:t>
            </a:r>
            <a:r>
              <a:rPr sz="1200" dirty="0">
                <a:latin typeface="Lucida Sans Unicode"/>
                <a:cs typeface="Lucida Sans Unicode"/>
              </a:rPr>
              <a:t>to</a:t>
            </a:r>
            <a:r>
              <a:rPr sz="1200" spc="-5" dirty="0">
                <a:latin typeface="Lucida Sans Unicode"/>
                <a:cs typeface="Lucida Sans Unicode"/>
              </a:rPr>
              <a:t> </a:t>
            </a:r>
            <a:r>
              <a:rPr sz="1200" dirty="0">
                <a:latin typeface="Lucida Sans Unicode"/>
                <a:cs typeface="Lucida Sans Unicode"/>
              </a:rPr>
              <a:t>a</a:t>
            </a:r>
            <a:r>
              <a:rPr sz="1200" spc="-5" dirty="0">
                <a:latin typeface="Lucida Sans Unicode"/>
                <a:cs typeface="Lucida Sans Unicode"/>
              </a:rPr>
              <a:t> </a:t>
            </a:r>
            <a:r>
              <a:rPr sz="1200" spc="-10" dirty="0">
                <a:latin typeface="Lucida Sans Unicode"/>
                <a:cs typeface="Lucida Sans Unicode"/>
              </a:rPr>
              <a:t>lightweight</a:t>
            </a:r>
            <a:r>
              <a:rPr sz="1200" spc="-5" dirty="0">
                <a:latin typeface="Lucida Sans Unicode"/>
                <a:cs typeface="Lucida Sans Unicode"/>
              </a:rPr>
              <a:t> </a:t>
            </a:r>
            <a:r>
              <a:rPr sz="1200" dirty="0">
                <a:latin typeface="Lucida Sans Unicode"/>
                <a:cs typeface="Lucida Sans Unicode"/>
              </a:rPr>
              <a:t>SQL</a:t>
            </a:r>
            <a:r>
              <a:rPr sz="1200" spc="-5" dirty="0">
                <a:latin typeface="Lucida Sans Unicode"/>
                <a:cs typeface="Lucida Sans Unicode"/>
              </a:rPr>
              <a:t> </a:t>
            </a:r>
            <a:r>
              <a:rPr sz="1200" spc="-10" dirty="0">
                <a:latin typeface="Lucida Sans Unicode"/>
                <a:cs typeface="Lucida Sans Unicode"/>
              </a:rPr>
              <a:t>database 	</a:t>
            </a:r>
            <a:r>
              <a:rPr sz="1200" spc="-40" dirty="0">
                <a:latin typeface="Lucida Sans Unicode"/>
                <a:cs typeface="Lucida Sans Unicode"/>
              </a:rPr>
              <a:t>(e.g.,</a:t>
            </a:r>
            <a:r>
              <a:rPr sz="1200" spc="-50" dirty="0">
                <a:latin typeface="Lucida Sans Unicode"/>
                <a:cs typeface="Lucida Sans Unicode"/>
              </a:rPr>
              <a:t> </a:t>
            </a:r>
            <a:r>
              <a:rPr sz="1200" spc="-20" dirty="0">
                <a:latin typeface="Lucida Sans Unicode"/>
                <a:cs typeface="Lucida Sans Unicode"/>
              </a:rPr>
              <a:t>SQLite)</a:t>
            </a:r>
            <a:r>
              <a:rPr sz="1200" spc="-45" dirty="0">
                <a:latin typeface="Lucida Sans Unicode"/>
                <a:cs typeface="Lucida Sans Unicode"/>
              </a:rPr>
              <a:t> </a:t>
            </a:r>
            <a:r>
              <a:rPr sz="1200" spc="-20" dirty="0">
                <a:latin typeface="Lucida Sans Unicode"/>
                <a:cs typeface="Lucida Sans Unicode"/>
              </a:rPr>
              <a:t>to</a:t>
            </a:r>
            <a:r>
              <a:rPr sz="1200" spc="-45" dirty="0">
                <a:latin typeface="Lucida Sans Unicode"/>
                <a:cs typeface="Lucida Sans Unicode"/>
              </a:rPr>
              <a:t> </a:t>
            </a:r>
            <a:r>
              <a:rPr sz="1200" spc="-20" dirty="0">
                <a:latin typeface="Lucida Sans Unicode"/>
                <a:cs typeface="Lucida Sans Unicode"/>
              </a:rPr>
              <a:t>handle</a:t>
            </a:r>
            <a:r>
              <a:rPr sz="1200" spc="-50" dirty="0">
                <a:latin typeface="Lucida Sans Unicode"/>
                <a:cs typeface="Lucida Sans Unicode"/>
              </a:rPr>
              <a:t> </a:t>
            </a:r>
            <a:r>
              <a:rPr sz="1200" spc="-25" dirty="0">
                <a:latin typeface="Lucida Sans Unicode"/>
                <a:cs typeface="Lucida Sans Unicode"/>
              </a:rPr>
              <a:t>concurrent</a:t>
            </a:r>
            <a:r>
              <a:rPr sz="1200" spc="-45" dirty="0">
                <a:latin typeface="Lucida Sans Unicode"/>
                <a:cs typeface="Lucida Sans Unicode"/>
              </a:rPr>
              <a:t> </a:t>
            </a:r>
            <a:r>
              <a:rPr sz="1200" spc="-30" dirty="0">
                <a:latin typeface="Lucida Sans Unicode"/>
                <a:cs typeface="Lucida Sans Unicode"/>
              </a:rPr>
              <a:t>access</a:t>
            </a:r>
            <a:r>
              <a:rPr sz="1200" spc="-45" dirty="0">
                <a:latin typeface="Lucida Sans Unicode"/>
                <a:cs typeface="Lucida Sans Unicode"/>
              </a:rPr>
              <a:t> </a:t>
            </a:r>
            <a:r>
              <a:rPr sz="1200" dirty="0">
                <a:latin typeface="Lucida Sans Unicode"/>
                <a:cs typeface="Lucida Sans Unicode"/>
              </a:rPr>
              <a:t>and</a:t>
            </a:r>
            <a:r>
              <a:rPr sz="1200" spc="-45" dirty="0">
                <a:latin typeface="Lucida Sans Unicode"/>
                <a:cs typeface="Lucida Sans Unicode"/>
              </a:rPr>
              <a:t> </a:t>
            </a:r>
            <a:r>
              <a:rPr sz="1200" spc="-25" dirty="0">
                <a:latin typeface="Lucida Sans Unicode"/>
                <a:cs typeface="Lucida Sans Unicode"/>
              </a:rPr>
              <a:t>improve</a:t>
            </a:r>
            <a:r>
              <a:rPr sz="1200" spc="-50" dirty="0">
                <a:latin typeface="Lucida Sans Unicode"/>
                <a:cs typeface="Lucida Sans Unicode"/>
              </a:rPr>
              <a:t> </a:t>
            </a:r>
            <a:r>
              <a:rPr sz="1200" spc="-10" dirty="0">
                <a:latin typeface="Lucida Sans Unicode"/>
                <a:cs typeface="Lucida Sans Unicode"/>
              </a:rPr>
              <a:t>query</a:t>
            </a:r>
            <a:r>
              <a:rPr sz="1200" spc="-45" dirty="0">
                <a:latin typeface="Lucida Sans Unicode"/>
                <a:cs typeface="Lucida Sans Unicode"/>
              </a:rPr>
              <a:t> </a:t>
            </a:r>
            <a:r>
              <a:rPr sz="1200" spc="-10" dirty="0">
                <a:latin typeface="Lucida Sans Unicode"/>
                <a:cs typeface="Lucida Sans Unicode"/>
              </a:rPr>
              <a:t>efficiency.</a:t>
            </a:r>
            <a:endParaRPr sz="1200">
              <a:latin typeface="Lucida Sans Unicode"/>
              <a:cs typeface="Lucida Sans Unicode"/>
            </a:endParaRPr>
          </a:p>
          <a:p>
            <a:pPr marL="389255" marR="5080" indent="-201295">
              <a:lnSpc>
                <a:spcPct val="100000"/>
              </a:lnSpc>
              <a:spcBef>
                <a:spcPts val="1005"/>
              </a:spcBef>
              <a:buFont typeface="Lucida Sans Unicode"/>
              <a:buAutoNum type="arabicPeriod"/>
              <a:tabLst>
                <a:tab pos="391795" algn="l"/>
              </a:tabLst>
            </a:pPr>
            <a:r>
              <a:rPr sz="1200" spc="-100" dirty="0">
                <a:latin typeface="Arial Black"/>
                <a:cs typeface="Arial Black"/>
              </a:rPr>
              <a:t>Barcode/SKU</a:t>
            </a:r>
            <a:r>
              <a:rPr sz="1200" spc="-105" dirty="0">
                <a:latin typeface="Arial Black"/>
                <a:cs typeface="Arial Black"/>
              </a:rPr>
              <a:t> </a:t>
            </a:r>
            <a:r>
              <a:rPr sz="1200" spc="-60" dirty="0">
                <a:latin typeface="Arial Black"/>
                <a:cs typeface="Arial Black"/>
              </a:rPr>
              <a:t>Support:</a:t>
            </a:r>
            <a:r>
              <a:rPr sz="1200" spc="55" dirty="0">
                <a:latin typeface="Arial Black"/>
                <a:cs typeface="Arial Black"/>
              </a:rPr>
              <a:t> </a:t>
            </a:r>
            <a:r>
              <a:rPr sz="1200" spc="-10" dirty="0">
                <a:latin typeface="Lucida Sans Unicode"/>
                <a:cs typeface="Lucida Sans Unicode"/>
              </a:rPr>
              <a:t>Integrate</a:t>
            </a:r>
            <a:r>
              <a:rPr sz="1200" spc="-85" dirty="0">
                <a:latin typeface="Lucida Sans Unicode"/>
                <a:cs typeface="Lucida Sans Unicode"/>
              </a:rPr>
              <a:t> </a:t>
            </a:r>
            <a:r>
              <a:rPr sz="1200" spc="-25" dirty="0">
                <a:latin typeface="Lucida Sans Unicode"/>
                <a:cs typeface="Lucida Sans Unicode"/>
              </a:rPr>
              <a:t>support</a:t>
            </a:r>
            <a:r>
              <a:rPr sz="1200" spc="-85" dirty="0">
                <a:latin typeface="Lucida Sans Unicode"/>
                <a:cs typeface="Lucida Sans Unicode"/>
              </a:rPr>
              <a:t> </a:t>
            </a:r>
            <a:r>
              <a:rPr sz="1200" spc="-25" dirty="0">
                <a:latin typeface="Lucida Sans Unicode"/>
                <a:cs typeface="Lucida Sans Unicode"/>
              </a:rPr>
              <a:t>for</a:t>
            </a:r>
            <a:r>
              <a:rPr sz="1200" spc="-85" dirty="0">
                <a:latin typeface="Lucida Sans Unicode"/>
                <a:cs typeface="Lucida Sans Unicode"/>
              </a:rPr>
              <a:t> </a:t>
            </a:r>
            <a:r>
              <a:rPr sz="1200" spc="-35" dirty="0">
                <a:latin typeface="Lucida Sans Unicode"/>
                <a:cs typeface="Lucida Sans Unicode"/>
              </a:rPr>
              <a:t>scanning</a:t>
            </a:r>
            <a:r>
              <a:rPr sz="1200" spc="-85" dirty="0">
                <a:latin typeface="Lucida Sans Unicode"/>
                <a:cs typeface="Lucida Sans Unicode"/>
              </a:rPr>
              <a:t> </a:t>
            </a:r>
            <a:r>
              <a:rPr sz="1200" spc="-10" dirty="0">
                <a:latin typeface="Lucida Sans Unicode"/>
                <a:cs typeface="Lucida Sans Unicode"/>
              </a:rPr>
              <a:t>or</a:t>
            </a:r>
            <a:r>
              <a:rPr sz="1200" spc="-85" dirty="0">
                <a:latin typeface="Lucida Sans Unicode"/>
                <a:cs typeface="Lucida Sans Unicode"/>
              </a:rPr>
              <a:t> </a:t>
            </a:r>
            <a:r>
              <a:rPr sz="1200" spc="-20" dirty="0">
                <a:latin typeface="Lucida Sans Unicode"/>
                <a:cs typeface="Lucida Sans Unicode"/>
              </a:rPr>
              <a:t>entering</a:t>
            </a:r>
            <a:r>
              <a:rPr sz="1200" spc="-85" dirty="0">
                <a:latin typeface="Lucida Sans Unicode"/>
                <a:cs typeface="Lucida Sans Unicode"/>
              </a:rPr>
              <a:t> </a:t>
            </a:r>
            <a:r>
              <a:rPr sz="1200" spc="-10" dirty="0">
                <a:latin typeface="Lucida Sans Unicode"/>
                <a:cs typeface="Lucida Sans Unicode"/>
              </a:rPr>
              <a:t>standard 	</a:t>
            </a:r>
            <a:r>
              <a:rPr sz="1200" dirty="0">
                <a:latin typeface="Lucida Sans Unicode"/>
                <a:cs typeface="Lucida Sans Unicode"/>
              </a:rPr>
              <a:t>SKU</a:t>
            </a:r>
            <a:r>
              <a:rPr sz="1200" spc="-65" dirty="0">
                <a:latin typeface="Lucida Sans Unicode"/>
                <a:cs typeface="Lucida Sans Unicode"/>
              </a:rPr>
              <a:t> </a:t>
            </a:r>
            <a:r>
              <a:rPr sz="1200" dirty="0">
                <a:latin typeface="Lucida Sans Unicode"/>
                <a:cs typeface="Lucida Sans Unicode"/>
              </a:rPr>
              <a:t>or</a:t>
            </a:r>
            <a:r>
              <a:rPr sz="1200" spc="-60" dirty="0">
                <a:latin typeface="Lucida Sans Unicode"/>
                <a:cs typeface="Lucida Sans Unicode"/>
              </a:rPr>
              <a:t> </a:t>
            </a:r>
            <a:r>
              <a:rPr sz="1200" spc="-20" dirty="0">
                <a:latin typeface="Lucida Sans Unicode"/>
                <a:cs typeface="Lucida Sans Unicode"/>
              </a:rPr>
              <a:t>barcode</a:t>
            </a:r>
            <a:r>
              <a:rPr sz="1200" spc="-60" dirty="0">
                <a:latin typeface="Lucida Sans Unicode"/>
                <a:cs typeface="Lucida Sans Unicode"/>
              </a:rPr>
              <a:t> </a:t>
            </a:r>
            <a:r>
              <a:rPr sz="1200" spc="-25" dirty="0">
                <a:latin typeface="Lucida Sans Unicode"/>
                <a:cs typeface="Lucida Sans Unicode"/>
              </a:rPr>
              <a:t>formats,</a:t>
            </a:r>
            <a:r>
              <a:rPr sz="1200" spc="-65" dirty="0">
                <a:latin typeface="Lucida Sans Unicode"/>
                <a:cs typeface="Lucida Sans Unicode"/>
              </a:rPr>
              <a:t> </a:t>
            </a:r>
            <a:r>
              <a:rPr sz="1200" spc="-20" dirty="0">
                <a:latin typeface="Lucida Sans Unicode"/>
                <a:cs typeface="Lucida Sans Unicode"/>
              </a:rPr>
              <a:t>not</a:t>
            </a:r>
            <a:r>
              <a:rPr sz="1200" spc="-60" dirty="0">
                <a:latin typeface="Lucida Sans Unicode"/>
                <a:cs typeface="Lucida Sans Unicode"/>
              </a:rPr>
              <a:t> </a:t>
            </a:r>
            <a:r>
              <a:rPr sz="1200" spc="-35" dirty="0">
                <a:latin typeface="Lucida Sans Unicode"/>
                <a:cs typeface="Lucida Sans Unicode"/>
              </a:rPr>
              <a:t>just</a:t>
            </a:r>
            <a:r>
              <a:rPr sz="1200" spc="-60" dirty="0">
                <a:latin typeface="Lucida Sans Unicode"/>
                <a:cs typeface="Lucida Sans Unicode"/>
              </a:rPr>
              <a:t> </a:t>
            </a:r>
            <a:r>
              <a:rPr sz="1200" dirty="0">
                <a:latin typeface="Lucida Sans Unicode"/>
                <a:cs typeface="Lucida Sans Unicode"/>
              </a:rPr>
              <a:t>the</a:t>
            </a:r>
            <a:r>
              <a:rPr sz="1200" spc="-65" dirty="0">
                <a:latin typeface="Lucida Sans Unicode"/>
                <a:cs typeface="Lucida Sans Unicode"/>
              </a:rPr>
              <a:t> </a:t>
            </a:r>
            <a:r>
              <a:rPr sz="1200" spc="-20" dirty="0">
                <a:latin typeface="Lucida Sans Unicode"/>
                <a:cs typeface="Lucida Sans Unicode"/>
              </a:rPr>
              <a:t>internal</a:t>
            </a:r>
            <a:r>
              <a:rPr sz="1200" spc="-60" dirty="0">
                <a:latin typeface="Lucida Sans Unicode"/>
                <a:cs typeface="Lucida Sans Unicode"/>
              </a:rPr>
              <a:t> </a:t>
            </a:r>
            <a:r>
              <a:rPr sz="1200" dirty="0">
                <a:latin typeface="Lucida Sans Unicode"/>
                <a:cs typeface="Lucida Sans Unicode"/>
              </a:rPr>
              <a:t>Item</a:t>
            </a:r>
            <a:r>
              <a:rPr sz="1200" spc="-60" dirty="0">
                <a:latin typeface="Lucida Sans Unicode"/>
                <a:cs typeface="Lucida Sans Unicode"/>
              </a:rPr>
              <a:t> </a:t>
            </a:r>
            <a:r>
              <a:rPr sz="1200" spc="-25" dirty="0">
                <a:latin typeface="Lucida Sans Unicode"/>
                <a:cs typeface="Lucida Sans Unicode"/>
              </a:rPr>
              <a:t>ID.</a:t>
            </a:r>
            <a:endParaRPr sz="1200">
              <a:latin typeface="Lucida Sans Unicode"/>
              <a:cs typeface="Lucida Sans Unicode"/>
            </a:endParaRPr>
          </a:p>
          <a:p>
            <a:pPr marL="389255" marR="5080" indent="-201295">
              <a:lnSpc>
                <a:spcPct val="100000"/>
              </a:lnSpc>
              <a:spcBef>
                <a:spcPts val="1005"/>
              </a:spcBef>
              <a:buFont typeface="Lucida Sans Unicode"/>
              <a:buAutoNum type="arabicPeriod"/>
              <a:tabLst>
                <a:tab pos="391795" algn="l"/>
              </a:tabLst>
            </a:pPr>
            <a:r>
              <a:rPr sz="1200" spc="-65" dirty="0">
                <a:latin typeface="Arial Black"/>
                <a:cs typeface="Arial Black"/>
              </a:rPr>
              <a:t>Reporting</a:t>
            </a:r>
            <a:r>
              <a:rPr sz="1200" spc="-160" dirty="0">
                <a:latin typeface="Arial Black"/>
                <a:cs typeface="Arial Black"/>
              </a:rPr>
              <a:t> </a:t>
            </a:r>
            <a:r>
              <a:rPr sz="1200" spc="-50" dirty="0">
                <a:latin typeface="Arial Black"/>
                <a:cs typeface="Arial Black"/>
              </a:rPr>
              <a:t>Module:</a:t>
            </a:r>
            <a:r>
              <a:rPr sz="1200" spc="25" dirty="0">
                <a:latin typeface="Arial Black"/>
                <a:cs typeface="Arial Black"/>
              </a:rPr>
              <a:t> </a:t>
            </a:r>
            <a:r>
              <a:rPr sz="1200" spc="-10" dirty="0">
                <a:latin typeface="Lucida Sans Unicode"/>
                <a:cs typeface="Lucida Sans Unicode"/>
              </a:rPr>
              <a:t>Introduce</a:t>
            </a:r>
            <a:r>
              <a:rPr sz="1200" spc="-140" dirty="0">
                <a:latin typeface="Lucida Sans Unicode"/>
                <a:cs typeface="Lucida Sans Unicode"/>
              </a:rPr>
              <a:t> </a:t>
            </a:r>
            <a:r>
              <a:rPr sz="1200" spc="-20" dirty="0">
                <a:latin typeface="Lucida Sans Unicode"/>
                <a:cs typeface="Lucida Sans Unicode"/>
              </a:rPr>
              <a:t>advanced</a:t>
            </a:r>
            <a:r>
              <a:rPr sz="1200" spc="-135" dirty="0">
                <a:latin typeface="Lucida Sans Unicode"/>
                <a:cs typeface="Lucida Sans Unicode"/>
              </a:rPr>
              <a:t> </a:t>
            </a:r>
            <a:r>
              <a:rPr sz="1200" spc="-30" dirty="0">
                <a:latin typeface="Lucida Sans Unicode"/>
                <a:cs typeface="Lucida Sans Unicode"/>
              </a:rPr>
              <a:t>reports,</a:t>
            </a:r>
            <a:r>
              <a:rPr sz="1200" spc="-114" dirty="0">
                <a:latin typeface="Lucida Sans Unicode"/>
                <a:cs typeface="Lucida Sans Unicode"/>
              </a:rPr>
              <a:t> </a:t>
            </a:r>
            <a:r>
              <a:rPr sz="1200" spc="-35" dirty="0">
                <a:latin typeface="Lucida Sans Unicode"/>
                <a:cs typeface="Lucida Sans Unicode"/>
              </a:rPr>
              <a:t>such</a:t>
            </a:r>
            <a:r>
              <a:rPr sz="1200" spc="-140" dirty="0">
                <a:latin typeface="Lucida Sans Unicode"/>
                <a:cs typeface="Lucida Sans Unicode"/>
              </a:rPr>
              <a:t> </a:t>
            </a:r>
            <a:r>
              <a:rPr sz="1200" spc="-25" dirty="0">
                <a:latin typeface="Lucida Sans Unicode"/>
                <a:cs typeface="Lucida Sans Unicode"/>
              </a:rPr>
              <a:t>as</a:t>
            </a:r>
            <a:r>
              <a:rPr sz="1200" spc="-135" dirty="0">
                <a:latin typeface="Lucida Sans Unicode"/>
                <a:cs typeface="Lucida Sans Unicode"/>
              </a:rPr>
              <a:t> </a:t>
            </a:r>
            <a:r>
              <a:rPr sz="1200" spc="-25" dirty="0">
                <a:latin typeface="Lucida Sans Unicode"/>
                <a:cs typeface="Lucida Sans Unicode"/>
              </a:rPr>
              <a:t>inventory</a:t>
            </a:r>
            <a:r>
              <a:rPr sz="1200" spc="-140" dirty="0">
                <a:latin typeface="Lucida Sans Unicode"/>
                <a:cs typeface="Lucida Sans Unicode"/>
              </a:rPr>
              <a:t> </a:t>
            </a:r>
            <a:r>
              <a:rPr sz="1200" spc="-10" dirty="0">
                <a:latin typeface="Lucida Sans Unicode"/>
                <a:cs typeface="Lucida Sans Unicode"/>
              </a:rPr>
              <a:t>valuation 	(Price</a:t>
            </a:r>
            <a:r>
              <a:rPr sz="1200" spc="-65" dirty="0">
                <a:latin typeface="Lucida Sans Unicode"/>
                <a:cs typeface="Lucida Sans Unicode"/>
              </a:rPr>
              <a:t> </a:t>
            </a:r>
            <a:r>
              <a:rPr sz="1200" spc="-120" dirty="0">
                <a:latin typeface="Lucida Sans Unicode"/>
                <a:cs typeface="Lucida Sans Unicode"/>
              </a:rPr>
              <a:t>x</a:t>
            </a:r>
            <a:r>
              <a:rPr sz="1200" spc="-60" dirty="0">
                <a:latin typeface="Lucida Sans Unicode"/>
                <a:cs typeface="Lucida Sans Unicode"/>
              </a:rPr>
              <a:t> </a:t>
            </a:r>
            <a:r>
              <a:rPr sz="1200" spc="-35" dirty="0">
                <a:latin typeface="Lucida Sans Unicode"/>
                <a:cs typeface="Lucida Sans Unicode"/>
              </a:rPr>
              <a:t>Stock)</a:t>
            </a:r>
            <a:r>
              <a:rPr sz="1200" spc="-60" dirty="0">
                <a:latin typeface="Lucida Sans Unicode"/>
                <a:cs typeface="Lucida Sans Unicode"/>
              </a:rPr>
              <a:t> </a:t>
            </a:r>
            <a:r>
              <a:rPr sz="1200" dirty="0">
                <a:latin typeface="Lucida Sans Unicode"/>
                <a:cs typeface="Lucida Sans Unicode"/>
              </a:rPr>
              <a:t>and</a:t>
            </a:r>
            <a:r>
              <a:rPr sz="1200" spc="-60" dirty="0">
                <a:latin typeface="Lucida Sans Unicode"/>
                <a:cs typeface="Lucida Sans Unicode"/>
              </a:rPr>
              <a:t> </a:t>
            </a:r>
            <a:r>
              <a:rPr sz="1200" dirty="0">
                <a:latin typeface="Lucida Sans Unicode"/>
                <a:cs typeface="Lucida Sans Unicode"/>
              </a:rPr>
              <a:t>a</a:t>
            </a:r>
            <a:r>
              <a:rPr sz="1200" spc="-60" dirty="0">
                <a:latin typeface="Lucida Sans Unicode"/>
                <a:cs typeface="Lucida Sans Unicode"/>
              </a:rPr>
              <a:t> </a:t>
            </a:r>
            <a:r>
              <a:rPr sz="1200" spc="-40" dirty="0">
                <a:latin typeface="Lucida Sans Unicode"/>
                <a:cs typeface="Lucida Sans Unicode"/>
              </a:rPr>
              <a:t>list</a:t>
            </a:r>
            <a:r>
              <a:rPr sz="1200" spc="-60" dirty="0">
                <a:latin typeface="Lucida Sans Unicode"/>
                <a:cs typeface="Lucida Sans Unicode"/>
              </a:rPr>
              <a:t> </a:t>
            </a:r>
            <a:r>
              <a:rPr sz="1200" spc="-30" dirty="0">
                <a:latin typeface="Lucida Sans Unicode"/>
                <a:cs typeface="Lucida Sans Unicode"/>
              </a:rPr>
              <a:t>of</a:t>
            </a:r>
            <a:r>
              <a:rPr sz="1200" spc="-60" dirty="0">
                <a:latin typeface="Lucida Sans Unicode"/>
                <a:cs typeface="Lucida Sans Unicode"/>
              </a:rPr>
              <a:t> </a:t>
            </a:r>
            <a:r>
              <a:rPr sz="1200" spc="-20" dirty="0">
                <a:latin typeface="Lucida Sans Unicode"/>
                <a:cs typeface="Lucida Sans Unicode"/>
              </a:rPr>
              <a:t>items</a:t>
            </a:r>
            <a:r>
              <a:rPr sz="1200" spc="-60" dirty="0">
                <a:latin typeface="Lucida Sans Unicode"/>
                <a:cs typeface="Lucida Sans Unicode"/>
              </a:rPr>
              <a:t> </a:t>
            </a:r>
            <a:r>
              <a:rPr sz="1200" spc="-20" dirty="0">
                <a:latin typeface="Lucida Sans Unicode"/>
                <a:cs typeface="Lucida Sans Unicode"/>
              </a:rPr>
              <a:t>not</a:t>
            </a:r>
            <a:r>
              <a:rPr sz="1200" spc="-60" dirty="0">
                <a:latin typeface="Lucida Sans Unicode"/>
                <a:cs typeface="Lucida Sans Unicode"/>
              </a:rPr>
              <a:t> </a:t>
            </a:r>
            <a:r>
              <a:rPr sz="1200" spc="-40" dirty="0">
                <a:latin typeface="Lucida Sans Unicode"/>
                <a:cs typeface="Lucida Sans Unicode"/>
              </a:rPr>
              <a:t>sold</a:t>
            </a:r>
            <a:r>
              <a:rPr sz="1200" spc="-60" dirty="0">
                <a:latin typeface="Lucida Sans Unicode"/>
                <a:cs typeface="Lucida Sans Unicode"/>
              </a:rPr>
              <a:t> </a:t>
            </a:r>
            <a:r>
              <a:rPr sz="1200" spc="-35" dirty="0">
                <a:latin typeface="Lucida Sans Unicode"/>
                <a:cs typeface="Lucida Sans Unicode"/>
              </a:rPr>
              <a:t>in</a:t>
            </a:r>
            <a:r>
              <a:rPr sz="1200" spc="-60" dirty="0">
                <a:latin typeface="Lucida Sans Unicode"/>
                <a:cs typeface="Lucida Sans Unicode"/>
              </a:rPr>
              <a:t> </a:t>
            </a:r>
            <a:r>
              <a:rPr sz="1200" dirty="0">
                <a:latin typeface="Lucida Sans Unicode"/>
                <a:cs typeface="Lucida Sans Unicode"/>
              </a:rPr>
              <a:t>the</a:t>
            </a:r>
            <a:r>
              <a:rPr sz="1200" spc="-60" dirty="0">
                <a:latin typeface="Lucida Sans Unicode"/>
                <a:cs typeface="Lucida Sans Unicode"/>
              </a:rPr>
              <a:t> </a:t>
            </a:r>
            <a:r>
              <a:rPr sz="1200" spc="-30" dirty="0">
                <a:latin typeface="Lucida Sans Unicode"/>
                <a:cs typeface="Lucida Sans Unicode"/>
              </a:rPr>
              <a:t>last</a:t>
            </a:r>
            <a:r>
              <a:rPr sz="1200" spc="-60" dirty="0">
                <a:latin typeface="Lucida Sans Unicode"/>
                <a:cs typeface="Lucida Sans Unicode"/>
              </a:rPr>
              <a:t> </a:t>
            </a:r>
            <a:r>
              <a:rPr sz="1200" spc="-90" dirty="0">
                <a:latin typeface="Lucida Sans Unicode"/>
                <a:cs typeface="Lucida Sans Unicode"/>
              </a:rPr>
              <a:t>30</a:t>
            </a:r>
            <a:r>
              <a:rPr sz="1200" spc="-60" dirty="0">
                <a:latin typeface="Lucida Sans Unicode"/>
                <a:cs typeface="Lucida Sans Unicode"/>
              </a:rPr>
              <a:t> </a:t>
            </a:r>
            <a:r>
              <a:rPr sz="1200" spc="-10" dirty="0">
                <a:latin typeface="Lucida Sans Unicode"/>
                <a:cs typeface="Lucida Sans Unicode"/>
              </a:rPr>
              <a:t>days.</a:t>
            </a:r>
            <a:endParaRPr sz="1200">
              <a:latin typeface="Lucida Sans Unicode"/>
              <a:cs typeface="Lucida Sans Unicod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22225" rIns="0" bIns="0" rtlCol="0">
            <a:spAutoFit/>
          </a:bodyPr>
          <a:lstStyle/>
          <a:p>
            <a:pPr marL="12700">
              <a:lnSpc>
                <a:spcPct val="100000"/>
              </a:lnSpc>
              <a:spcBef>
                <a:spcPts val="175"/>
              </a:spcBef>
            </a:pPr>
            <a:r>
              <a:rPr spc="-60" dirty="0"/>
              <a:t>16</a:t>
            </a:r>
          </a:p>
        </p:txBody>
      </p:sp>
      <p:sp>
        <p:nvSpPr>
          <p:cNvPr id="2" name="object 2"/>
          <p:cNvSpPr txBox="1">
            <a:spLocks noGrp="1"/>
          </p:cNvSpPr>
          <p:nvPr>
            <p:ph type="title"/>
          </p:nvPr>
        </p:nvSpPr>
        <p:spPr>
          <a:xfrm>
            <a:off x="887298" y="1736546"/>
            <a:ext cx="1761489" cy="1036319"/>
          </a:xfrm>
          <a:prstGeom prst="rect">
            <a:avLst/>
          </a:prstGeom>
        </p:spPr>
        <p:txBody>
          <a:bodyPr vert="horz" wrap="square" lIns="0" tIns="15875" rIns="0" bIns="0" rtlCol="0">
            <a:spAutoFit/>
          </a:bodyPr>
          <a:lstStyle/>
          <a:p>
            <a:pPr marL="12700">
              <a:lnSpc>
                <a:spcPct val="100000"/>
              </a:lnSpc>
              <a:spcBef>
                <a:spcPts val="125"/>
              </a:spcBef>
            </a:pPr>
            <a:r>
              <a:rPr spc="-110" dirty="0"/>
              <a:t>Chapter</a:t>
            </a:r>
            <a:r>
              <a:rPr spc="-150" dirty="0"/>
              <a:t> </a:t>
            </a:r>
            <a:r>
              <a:rPr spc="-45" dirty="0"/>
              <a:t>14</a:t>
            </a:r>
          </a:p>
          <a:p>
            <a:pPr marL="12700">
              <a:lnSpc>
                <a:spcPct val="100000"/>
              </a:lnSpc>
              <a:spcBef>
                <a:spcPts val="2045"/>
              </a:spcBef>
            </a:pPr>
            <a:r>
              <a:rPr spc="-160" dirty="0"/>
              <a:t>References</a:t>
            </a:r>
          </a:p>
        </p:txBody>
      </p:sp>
      <p:sp>
        <p:nvSpPr>
          <p:cNvPr id="3" name="object 3"/>
          <p:cNvSpPr txBox="1"/>
          <p:nvPr/>
        </p:nvSpPr>
        <p:spPr>
          <a:xfrm>
            <a:off x="1063421" y="3221695"/>
            <a:ext cx="5609590" cy="1378585"/>
          </a:xfrm>
          <a:prstGeom prst="rect">
            <a:avLst/>
          </a:prstGeom>
        </p:spPr>
        <p:txBody>
          <a:bodyPr vert="horz" wrap="square" lIns="0" tIns="12065" rIns="0" bIns="0" rtlCol="0">
            <a:spAutoFit/>
          </a:bodyPr>
          <a:lstStyle/>
          <a:p>
            <a:pPr marL="213995" indent="-201295">
              <a:lnSpc>
                <a:spcPct val="100000"/>
              </a:lnSpc>
              <a:spcBef>
                <a:spcPts val="95"/>
              </a:spcBef>
              <a:buAutoNum type="arabicPeriod"/>
              <a:tabLst>
                <a:tab pos="213995" algn="l"/>
              </a:tabLst>
            </a:pPr>
            <a:r>
              <a:rPr sz="1200" spc="-10" dirty="0">
                <a:latin typeface="Lucida Sans Unicode"/>
                <a:cs typeface="Lucida Sans Unicode"/>
              </a:rPr>
              <a:t>Python</a:t>
            </a:r>
            <a:r>
              <a:rPr sz="1200" spc="-45" dirty="0">
                <a:latin typeface="Lucida Sans Unicode"/>
                <a:cs typeface="Lucida Sans Unicode"/>
              </a:rPr>
              <a:t> </a:t>
            </a:r>
            <a:r>
              <a:rPr sz="1200" spc="-75" dirty="0">
                <a:latin typeface="Lucida Sans Unicode"/>
                <a:cs typeface="Lucida Sans Unicode"/>
              </a:rPr>
              <a:t>3.10</a:t>
            </a:r>
            <a:r>
              <a:rPr sz="1200" spc="-40" dirty="0">
                <a:latin typeface="Lucida Sans Unicode"/>
                <a:cs typeface="Lucida Sans Unicode"/>
              </a:rPr>
              <a:t> </a:t>
            </a:r>
            <a:r>
              <a:rPr sz="1200" spc="-35" dirty="0">
                <a:latin typeface="Lucida Sans Unicode"/>
                <a:cs typeface="Lucida Sans Unicode"/>
              </a:rPr>
              <a:t>Official</a:t>
            </a:r>
            <a:r>
              <a:rPr sz="1200" spc="-45" dirty="0">
                <a:latin typeface="Lucida Sans Unicode"/>
                <a:cs typeface="Lucida Sans Unicode"/>
              </a:rPr>
              <a:t> </a:t>
            </a:r>
            <a:r>
              <a:rPr sz="1200" spc="-20" dirty="0">
                <a:latin typeface="Lucida Sans Unicode"/>
                <a:cs typeface="Lucida Sans Unicode"/>
              </a:rPr>
              <a:t>Documentation.</a:t>
            </a:r>
            <a:r>
              <a:rPr sz="1200" spc="70" dirty="0">
                <a:latin typeface="Lucida Sans Unicode"/>
                <a:cs typeface="Lucida Sans Unicode"/>
              </a:rPr>
              <a:t> </a:t>
            </a:r>
            <a:r>
              <a:rPr sz="1200" spc="-25" dirty="0">
                <a:latin typeface="Lucida Sans Unicode"/>
                <a:cs typeface="Lucida Sans Unicode"/>
              </a:rPr>
              <a:t>(Retrieved</a:t>
            </a:r>
            <a:r>
              <a:rPr sz="1200" spc="-40" dirty="0">
                <a:latin typeface="Lucida Sans Unicode"/>
                <a:cs typeface="Lucida Sans Unicode"/>
              </a:rPr>
              <a:t> </a:t>
            </a:r>
            <a:r>
              <a:rPr sz="1200" spc="-20" dirty="0">
                <a:latin typeface="Lucida Sans Unicode"/>
                <a:cs typeface="Lucida Sans Unicode"/>
              </a:rPr>
              <a:t>October</a:t>
            </a:r>
            <a:r>
              <a:rPr sz="1200" spc="-45" dirty="0">
                <a:latin typeface="Lucida Sans Unicode"/>
                <a:cs typeface="Lucida Sans Unicode"/>
              </a:rPr>
              <a:t> </a:t>
            </a:r>
            <a:r>
              <a:rPr sz="1200" spc="-10" dirty="0">
                <a:latin typeface="Lucida Sans Unicode"/>
                <a:cs typeface="Lucida Sans Unicode"/>
              </a:rPr>
              <a:t>2025).</a:t>
            </a:r>
            <a:endParaRPr sz="1200">
              <a:latin typeface="Lucida Sans Unicode"/>
              <a:cs typeface="Lucida Sans Unicode"/>
            </a:endParaRPr>
          </a:p>
          <a:p>
            <a:pPr marL="213360" marR="5080" indent="-201295" algn="just">
              <a:lnSpc>
                <a:spcPct val="100000"/>
              </a:lnSpc>
              <a:spcBef>
                <a:spcPts val="1000"/>
              </a:spcBef>
              <a:buAutoNum type="arabicPeriod"/>
              <a:tabLst>
                <a:tab pos="215900" algn="l"/>
              </a:tabLst>
            </a:pPr>
            <a:r>
              <a:rPr sz="1200" dirty="0">
                <a:latin typeface="Lucida Sans Unicode"/>
                <a:cs typeface="Lucida Sans Unicode"/>
              </a:rPr>
              <a:t>Gamma,</a:t>
            </a:r>
            <a:r>
              <a:rPr sz="1200" spc="-80" dirty="0">
                <a:latin typeface="Lucida Sans Unicode"/>
                <a:cs typeface="Lucida Sans Unicode"/>
              </a:rPr>
              <a:t> </a:t>
            </a:r>
            <a:r>
              <a:rPr sz="1200" spc="-10" dirty="0">
                <a:latin typeface="Lucida Sans Unicode"/>
                <a:cs typeface="Lucida Sans Unicode"/>
              </a:rPr>
              <a:t>E.,</a:t>
            </a:r>
            <a:r>
              <a:rPr sz="1200" spc="-55" dirty="0">
                <a:latin typeface="Lucida Sans Unicode"/>
                <a:cs typeface="Lucida Sans Unicode"/>
              </a:rPr>
              <a:t> </a:t>
            </a:r>
            <a:r>
              <a:rPr sz="1200" spc="-10" dirty="0">
                <a:latin typeface="Lucida Sans Unicode"/>
                <a:cs typeface="Lucida Sans Unicode"/>
              </a:rPr>
              <a:t>Helm,</a:t>
            </a:r>
            <a:r>
              <a:rPr sz="1200" spc="-55" dirty="0">
                <a:latin typeface="Lucida Sans Unicode"/>
                <a:cs typeface="Lucida Sans Unicode"/>
              </a:rPr>
              <a:t> </a:t>
            </a:r>
            <a:r>
              <a:rPr sz="1200" spc="-35" dirty="0">
                <a:latin typeface="Lucida Sans Unicode"/>
                <a:cs typeface="Lucida Sans Unicode"/>
              </a:rPr>
              <a:t>R.,</a:t>
            </a:r>
            <a:r>
              <a:rPr sz="1200" spc="-55" dirty="0">
                <a:latin typeface="Lucida Sans Unicode"/>
                <a:cs typeface="Lucida Sans Unicode"/>
              </a:rPr>
              <a:t> </a:t>
            </a:r>
            <a:r>
              <a:rPr sz="1200" spc="-30" dirty="0">
                <a:latin typeface="Lucida Sans Unicode"/>
                <a:cs typeface="Lucida Sans Unicode"/>
              </a:rPr>
              <a:t>Johnson,</a:t>
            </a:r>
            <a:r>
              <a:rPr sz="1200" spc="-60" dirty="0">
                <a:latin typeface="Lucida Sans Unicode"/>
                <a:cs typeface="Lucida Sans Unicode"/>
              </a:rPr>
              <a:t> </a:t>
            </a:r>
            <a:r>
              <a:rPr sz="1200" spc="-35" dirty="0">
                <a:latin typeface="Lucida Sans Unicode"/>
                <a:cs typeface="Lucida Sans Unicode"/>
              </a:rPr>
              <a:t>R.,</a:t>
            </a:r>
            <a:r>
              <a:rPr sz="1200" spc="-55" dirty="0">
                <a:latin typeface="Lucida Sans Unicode"/>
                <a:cs typeface="Lucida Sans Unicode"/>
              </a:rPr>
              <a:t> </a:t>
            </a:r>
            <a:r>
              <a:rPr sz="1200" dirty="0">
                <a:latin typeface="Lucida Sans Unicode"/>
                <a:cs typeface="Lucida Sans Unicode"/>
              </a:rPr>
              <a:t>&amp;</a:t>
            </a:r>
            <a:r>
              <a:rPr sz="1200" spc="-65" dirty="0">
                <a:latin typeface="Lucida Sans Unicode"/>
                <a:cs typeface="Lucida Sans Unicode"/>
              </a:rPr>
              <a:t> </a:t>
            </a:r>
            <a:r>
              <a:rPr sz="1200" spc="-40" dirty="0">
                <a:latin typeface="Lucida Sans Unicode"/>
                <a:cs typeface="Lucida Sans Unicode"/>
              </a:rPr>
              <a:t>Vlissides,</a:t>
            </a:r>
            <a:r>
              <a:rPr sz="1200" spc="-55" dirty="0">
                <a:latin typeface="Lucida Sans Unicode"/>
                <a:cs typeface="Lucida Sans Unicode"/>
              </a:rPr>
              <a:t> </a:t>
            </a:r>
            <a:r>
              <a:rPr sz="1200" spc="-45" dirty="0">
                <a:latin typeface="Lucida Sans Unicode"/>
                <a:cs typeface="Lucida Sans Unicode"/>
              </a:rPr>
              <a:t>J. </a:t>
            </a:r>
            <a:r>
              <a:rPr sz="1200" spc="-35" dirty="0">
                <a:latin typeface="Lucida Sans Unicode"/>
                <a:cs typeface="Lucida Sans Unicode"/>
              </a:rPr>
              <a:t>(1994).</a:t>
            </a:r>
            <a:r>
              <a:rPr sz="1200" spc="105" dirty="0">
                <a:latin typeface="Lucida Sans Unicode"/>
                <a:cs typeface="Lucida Sans Unicode"/>
              </a:rPr>
              <a:t> </a:t>
            </a:r>
            <a:r>
              <a:rPr sz="1200" i="1" dirty="0">
                <a:latin typeface="Trebuchet MS"/>
                <a:cs typeface="Trebuchet MS"/>
              </a:rPr>
              <a:t>Design</a:t>
            </a:r>
            <a:r>
              <a:rPr sz="1200" i="1" spc="-50" dirty="0">
                <a:latin typeface="Trebuchet MS"/>
                <a:cs typeface="Trebuchet MS"/>
              </a:rPr>
              <a:t> </a:t>
            </a:r>
            <a:r>
              <a:rPr sz="1200" i="1" spc="-10" dirty="0">
                <a:latin typeface="Trebuchet MS"/>
                <a:cs typeface="Trebuchet MS"/>
              </a:rPr>
              <a:t>Patterns:</a:t>
            </a:r>
            <a:r>
              <a:rPr sz="1200" i="1" spc="85" dirty="0">
                <a:latin typeface="Trebuchet MS"/>
                <a:cs typeface="Trebuchet MS"/>
              </a:rPr>
              <a:t> </a:t>
            </a:r>
            <a:r>
              <a:rPr sz="1200" i="1" spc="-20" dirty="0">
                <a:latin typeface="Trebuchet MS"/>
                <a:cs typeface="Trebuchet MS"/>
              </a:rPr>
              <a:t>Ele- 	</a:t>
            </a:r>
            <a:r>
              <a:rPr sz="1200" i="1" spc="-10" dirty="0">
                <a:latin typeface="Trebuchet MS"/>
                <a:cs typeface="Trebuchet MS"/>
              </a:rPr>
              <a:t>ments</a:t>
            </a:r>
            <a:r>
              <a:rPr sz="1200" i="1" spc="-55" dirty="0">
                <a:latin typeface="Trebuchet MS"/>
                <a:cs typeface="Trebuchet MS"/>
              </a:rPr>
              <a:t> </a:t>
            </a:r>
            <a:r>
              <a:rPr sz="1200" i="1" spc="-50" dirty="0">
                <a:latin typeface="Trebuchet MS"/>
                <a:cs typeface="Trebuchet MS"/>
              </a:rPr>
              <a:t>of</a:t>
            </a:r>
            <a:r>
              <a:rPr sz="1200" i="1" spc="-40" dirty="0">
                <a:latin typeface="Trebuchet MS"/>
                <a:cs typeface="Trebuchet MS"/>
              </a:rPr>
              <a:t> </a:t>
            </a:r>
            <a:r>
              <a:rPr sz="1200" i="1" spc="-10" dirty="0">
                <a:latin typeface="Trebuchet MS"/>
                <a:cs typeface="Trebuchet MS"/>
              </a:rPr>
              <a:t>Reusable</a:t>
            </a:r>
            <a:r>
              <a:rPr sz="1200" i="1" spc="-50" dirty="0">
                <a:latin typeface="Trebuchet MS"/>
                <a:cs typeface="Trebuchet MS"/>
              </a:rPr>
              <a:t> </a:t>
            </a:r>
            <a:r>
              <a:rPr sz="1200" i="1" spc="-40" dirty="0">
                <a:latin typeface="Trebuchet MS"/>
                <a:cs typeface="Trebuchet MS"/>
              </a:rPr>
              <a:t>Object-Oriented</a:t>
            </a:r>
            <a:r>
              <a:rPr sz="1200" i="1" spc="-45" dirty="0">
                <a:latin typeface="Trebuchet MS"/>
                <a:cs typeface="Trebuchet MS"/>
              </a:rPr>
              <a:t> </a:t>
            </a:r>
            <a:r>
              <a:rPr sz="1200" i="1" spc="-35" dirty="0">
                <a:latin typeface="Trebuchet MS"/>
                <a:cs typeface="Trebuchet MS"/>
              </a:rPr>
              <a:t>Software.</a:t>
            </a:r>
            <a:r>
              <a:rPr sz="1200" i="1" spc="65" dirty="0">
                <a:latin typeface="Trebuchet MS"/>
                <a:cs typeface="Trebuchet MS"/>
              </a:rPr>
              <a:t> </a:t>
            </a:r>
            <a:r>
              <a:rPr sz="1200" spc="-55" dirty="0">
                <a:latin typeface="Lucida Sans Unicode"/>
                <a:cs typeface="Lucida Sans Unicode"/>
              </a:rPr>
              <a:t>Addison-</a:t>
            </a:r>
            <a:r>
              <a:rPr sz="1200" spc="-30" dirty="0">
                <a:latin typeface="Lucida Sans Unicode"/>
                <a:cs typeface="Lucida Sans Unicode"/>
              </a:rPr>
              <a:t>Wesley.</a:t>
            </a:r>
            <a:r>
              <a:rPr sz="1200" spc="45" dirty="0">
                <a:latin typeface="Lucida Sans Unicode"/>
                <a:cs typeface="Lucida Sans Unicode"/>
              </a:rPr>
              <a:t> </a:t>
            </a:r>
            <a:r>
              <a:rPr sz="1200" spc="-20" dirty="0">
                <a:latin typeface="Lucida Sans Unicode"/>
                <a:cs typeface="Lucida Sans Unicode"/>
              </a:rPr>
              <a:t>(Referenced</a:t>
            </a:r>
            <a:r>
              <a:rPr sz="1200" spc="-65" dirty="0">
                <a:latin typeface="Lucida Sans Unicode"/>
                <a:cs typeface="Lucida Sans Unicode"/>
              </a:rPr>
              <a:t> </a:t>
            </a:r>
            <a:r>
              <a:rPr sz="1200" spc="-25" dirty="0">
                <a:latin typeface="Lucida Sans Unicode"/>
                <a:cs typeface="Lucida Sans Unicode"/>
              </a:rPr>
              <a:t>for 	</a:t>
            </a:r>
            <a:r>
              <a:rPr sz="1200" dirty="0">
                <a:latin typeface="Lucida Sans Unicode"/>
                <a:cs typeface="Lucida Sans Unicode"/>
              </a:rPr>
              <a:t>OOP</a:t>
            </a:r>
            <a:r>
              <a:rPr sz="1200" spc="-20" dirty="0">
                <a:latin typeface="Lucida Sans Unicode"/>
                <a:cs typeface="Lucida Sans Unicode"/>
              </a:rPr>
              <a:t> </a:t>
            </a:r>
            <a:r>
              <a:rPr sz="1200" spc="-10" dirty="0">
                <a:latin typeface="Lucida Sans Unicode"/>
                <a:cs typeface="Lucida Sans Unicode"/>
              </a:rPr>
              <a:t>principles).</a:t>
            </a:r>
            <a:endParaRPr sz="1200">
              <a:latin typeface="Lucida Sans Unicode"/>
              <a:cs typeface="Lucida Sans Unicode"/>
            </a:endParaRPr>
          </a:p>
          <a:p>
            <a:pPr marL="213360" marR="5080" indent="-201295" algn="just">
              <a:lnSpc>
                <a:spcPct val="100000"/>
              </a:lnSpc>
              <a:spcBef>
                <a:spcPts val="1010"/>
              </a:spcBef>
              <a:buAutoNum type="arabicPeriod"/>
              <a:tabLst>
                <a:tab pos="215900" algn="l"/>
              </a:tabLst>
            </a:pPr>
            <a:r>
              <a:rPr sz="1200" dirty="0">
                <a:latin typeface="Lucida Sans Unicode"/>
                <a:cs typeface="Lucida Sans Unicode"/>
              </a:rPr>
              <a:t>W3Schools.</a:t>
            </a:r>
            <a:r>
              <a:rPr sz="1200" spc="180" dirty="0">
                <a:latin typeface="Lucida Sans Unicode"/>
                <a:cs typeface="Lucida Sans Unicode"/>
              </a:rPr>
              <a:t> </a:t>
            </a:r>
            <a:r>
              <a:rPr sz="1200" i="1" dirty="0">
                <a:latin typeface="Trebuchet MS"/>
                <a:cs typeface="Trebuchet MS"/>
              </a:rPr>
              <a:t>JSON</a:t>
            </a:r>
            <a:r>
              <a:rPr sz="1200" i="1" spc="-25" dirty="0">
                <a:latin typeface="Trebuchet MS"/>
                <a:cs typeface="Trebuchet MS"/>
              </a:rPr>
              <a:t> </a:t>
            </a:r>
            <a:r>
              <a:rPr sz="1200" i="1" dirty="0">
                <a:latin typeface="Trebuchet MS"/>
                <a:cs typeface="Trebuchet MS"/>
              </a:rPr>
              <a:t>Introduction</a:t>
            </a:r>
            <a:r>
              <a:rPr sz="1200" i="1" spc="-25" dirty="0">
                <a:latin typeface="Trebuchet MS"/>
                <a:cs typeface="Trebuchet MS"/>
              </a:rPr>
              <a:t> </a:t>
            </a:r>
            <a:r>
              <a:rPr sz="1200" i="1" dirty="0">
                <a:latin typeface="Trebuchet MS"/>
                <a:cs typeface="Trebuchet MS"/>
              </a:rPr>
              <a:t>and</a:t>
            </a:r>
            <a:r>
              <a:rPr sz="1200" i="1" spc="-25" dirty="0">
                <a:latin typeface="Trebuchet MS"/>
                <a:cs typeface="Trebuchet MS"/>
              </a:rPr>
              <a:t> </a:t>
            </a:r>
            <a:r>
              <a:rPr sz="1200" i="1" dirty="0">
                <a:latin typeface="Trebuchet MS"/>
                <a:cs typeface="Trebuchet MS"/>
              </a:rPr>
              <a:t>Usage.</a:t>
            </a:r>
            <a:r>
              <a:rPr sz="1200" i="1" spc="200" dirty="0">
                <a:latin typeface="Trebuchet MS"/>
                <a:cs typeface="Trebuchet MS"/>
              </a:rPr>
              <a:t> </a:t>
            </a:r>
            <a:r>
              <a:rPr sz="1200" spc="-10" dirty="0">
                <a:latin typeface="Lucida Sans Unicode"/>
                <a:cs typeface="Lucida Sans Unicode"/>
              </a:rPr>
              <a:t>(Referenced</a:t>
            </a:r>
            <a:r>
              <a:rPr sz="1200" spc="-45" dirty="0">
                <a:latin typeface="Lucida Sans Unicode"/>
                <a:cs typeface="Lucida Sans Unicode"/>
              </a:rPr>
              <a:t> </a:t>
            </a:r>
            <a:r>
              <a:rPr sz="1200" dirty="0">
                <a:latin typeface="Lucida Sans Unicode"/>
                <a:cs typeface="Lucida Sans Unicode"/>
              </a:rPr>
              <a:t>for</a:t>
            </a:r>
            <a:r>
              <a:rPr sz="1200" spc="-45" dirty="0">
                <a:latin typeface="Lucida Sans Unicode"/>
                <a:cs typeface="Lucida Sans Unicode"/>
              </a:rPr>
              <a:t> </a:t>
            </a:r>
            <a:r>
              <a:rPr sz="1200" dirty="0">
                <a:latin typeface="Lucida Sans Unicode"/>
                <a:cs typeface="Lucida Sans Unicode"/>
              </a:rPr>
              <a:t>JSON</a:t>
            </a:r>
            <a:r>
              <a:rPr sz="1200" spc="-45" dirty="0">
                <a:latin typeface="Lucida Sans Unicode"/>
                <a:cs typeface="Lucida Sans Unicode"/>
              </a:rPr>
              <a:t> </a:t>
            </a:r>
            <a:r>
              <a:rPr sz="1200" spc="-20" dirty="0">
                <a:latin typeface="Lucida Sans Unicode"/>
                <a:cs typeface="Lucida Sans Unicode"/>
              </a:rPr>
              <a:t>syntax</a:t>
            </a:r>
            <a:r>
              <a:rPr sz="1200" spc="-45" dirty="0">
                <a:latin typeface="Lucida Sans Unicode"/>
                <a:cs typeface="Lucida Sans Unicode"/>
              </a:rPr>
              <a:t> </a:t>
            </a:r>
            <a:r>
              <a:rPr sz="1200" spc="-25" dirty="0">
                <a:latin typeface="Lucida Sans Unicode"/>
                <a:cs typeface="Lucida Sans Unicode"/>
              </a:rPr>
              <a:t>and 	</a:t>
            </a:r>
            <a:r>
              <a:rPr sz="1200" spc="-10" dirty="0">
                <a:latin typeface="Lucida Sans Unicode"/>
                <a:cs typeface="Lucida Sans Unicode"/>
              </a:rPr>
              <a:t>structure).</a:t>
            </a:r>
            <a:endParaRPr sz="1200">
              <a:latin typeface="Lucida Sans Unicode"/>
              <a:cs typeface="Lucida Sans Unicod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55</TotalTime>
  <Words>1171</Words>
  <Application>Microsoft Office PowerPoint</Application>
  <PresentationFormat>Custom</PresentationFormat>
  <Paragraphs>127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Black</vt:lpstr>
      <vt:lpstr>Lucida Sans Unicode</vt:lpstr>
      <vt:lpstr>Times New Roman</vt:lpstr>
      <vt:lpstr>Trebuchet MS</vt:lpstr>
      <vt:lpstr>Office Theme</vt:lpstr>
      <vt:lpstr>PowerPoint Presentation</vt:lpstr>
      <vt:lpstr>Contents</vt:lpstr>
      <vt:lpstr>Chapter 1 Introduction</vt:lpstr>
      <vt:lpstr>PowerPoint Presentation</vt:lpstr>
      <vt:lpstr>PowerPoint Presentation</vt:lpstr>
      <vt:lpstr>PowerPoint Presentation</vt:lpstr>
      <vt:lpstr>PowerPoint Presentation</vt:lpstr>
      <vt:lpstr>Chapter 6 Design Decisions &amp; Rationale</vt:lpstr>
      <vt:lpstr>Chapter 8 Implementation Details</vt:lpstr>
      <vt:lpstr>Chapter 9 Screenshots / Results</vt:lpstr>
      <vt:lpstr>Chapter 10 Testing Approach</vt:lpstr>
      <vt:lpstr>Chapter 11 Challenges Faced</vt:lpstr>
      <vt:lpstr>PowerPoint Presentation</vt:lpstr>
      <vt:lpstr>PowerPoint Presentation</vt:lpstr>
      <vt:lpstr>Chapter 14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Ritika</dc:creator>
  <cp:lastModifiedBy>ritika gupta</cp:lastModifiedBy>
  <cp:revision>1</cp:revision>
  <dcterms:created xsi:type="dcterms:W3CDTF">2025-11-24T17:11:40Z</dcterms:created>
  <dcterms:modified xsi:type="dcterms:W3CDTF">2025-11-24T18:07:38Z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2025-11-24T00:00:00Z</vt:filetime>
  </property>
  <property fmtid="{D5CDD505-2E9C-101B-9397-08002B2CF9AE}" pid="3" name="Creator">
    <vt:lpwstr>LaTeX with hyperref</vt:lpwstr>
  </property>
  <property fmtid="{D5CDD505-2E9C-101B-9397-08002B2CF9AE}" pid="4" name="LastSaved">
    <vt:filetime>2025-11-24T00:00:00Z</vt:filetime>
  </property>
  <property fmtid="{D5CDD505-2E9C-101B-9397-08002B2CF9AE}" pid="5" name="PTEX.FullBanner">
    <vt:lpwstr>This is LuaHBTeX, Version 1.22.0 (TeX Live 2025)</vt:lpwstr>
  </property>
  <property fmtid="{D5CDD505-2E9C-101B-9397-08002B2CF9AE}" pid="6" name="Producer">
    <vt:lpwstr>LuaTeX-1.22.0</vt:lpwstr>
  </property>
</Properties>
</file>